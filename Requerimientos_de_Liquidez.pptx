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6" r:id="rId2"/>
    <p:sldId id="257" r:id="rId3"/>
    <p:sldId id="258" r:id="rId4"/>
    <p:sldId id="259" r:id="rId5"/>
    <p:sldId id="267" r:id="rId17"/>
    <p:sldId id="268" r:id="rId18"/>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Índice</c:v>
                </c:pt>
              </c:strCache>
            </c:strRef>
          </c:tx>
          <c:spPr>
            <a:solidFill>
              <a:srgbClr val="073269"/>
            </a:solidFill>
            <a:ln>
              <a:noFill/>
            </a:ln>
          </c:spPr>
          <c:cat>
            <c:strRef>
              <c:f>Sheet1!$A$2:$A$17</c:f>
              <c:strCache>
                <c:ptCount val="16"/>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strCache>
            </c:strRef>
          </c:cat>
          <c:val>
            <c:numRef>
              <c:f>Sheet1!$B$2:$B$17</c:f>
              <c:numCache>
                <c:formatCode>General</c:formatCode>
                <c:ptCount val="16"/>
                <c:pt idx="0">
                  <c:v>100.0</c:v>
                </c:pt>
                <c:pt idx="1">
                  <c:v>63.3</c:v>
                </c:pt>
                <c:pt idx="2">
                  <c:v>-65.7</c:v>
                </c:pt>
                <c:pt idx="3">
                  <c:v>85.5</c:v>
                </c:pt>
                <c:pt idx="4">
                  <c:v>111.0</c:v>
                </c:pt>
                <c:pt idx="5">
                  <c:v>147.8</c:v>
                </c:pt>
                <c:pt idx="6">
                  <c:v>117.4</c:v>
                </c:pt>
                <c:pt idx="7">
                  <c:v>27.9</c:v>
                </c:pt>
                <c:pt idx="8">
                  <c:v>265.0</c:v>
                </c:pt>
                <c:pt idx="9">
                  <c:v>277.6</c:v>
                </c:pt>
                <c:pt idx="10">
                  <c:v>522.1</c:v>
                </c:pt>
                <c:pt idx="11">
                  <c:v>249.5</c:v>
                </c:pt>
                <c:pt idx="12">
                  <c:v>596.8</c:v>
                </c:pt>
                <c:pt idx="13">
                  <c:v>542.8</c:v>
                </c:pt>
                <c:pt idx="14">
                  <c:v>1040.4</c:v>
                </c:pt>
                <c:pt idx="15">
                  <c:v>1151.4</c:v>
                </c:pt>
              </c:numCache>
            </c:numRef>
          </c:val>
        </c:ser>
        <c:gapWidth val="60"/>
        <c:axId val="-2068027336"/>
        <c:axId val="-2113994440"/>
      </c:barChart>
      <c:catAx>
        <c:axId val="-2068027336"/>
        <c:scaling>
          <c:orientation val="minMax"/>
        </c:scaling>
        <c:delete val="0"/>
        <c:axPos val="b"/>
        <c:majorTickMark val="none"/>
        <c:minorTickMark val="none"/>
        <c:tickLblPos val="nextTo"/>
        <c:spPr>
          <a:ln>
            <a:solidFill>
              <a:srgbClr val="D8DEE8"/>
            </a:solidFill>
          </a:ln>
        </c:spPr>
        <c:txPr>
          <a:bodyPr/>
          <a:lstStyle/>
          <a:p>
            <a:pPr>
              <a:defRPr sz="1100">
                <a:solidFill>
                  <a:srgbClr val="767676"/>
                </a:solidFill>
                <a:latin typeface="Calibri"/>
              </a:defRPr>
            </a:pPr>
          </a:p>
        </c:txPr>
        <c:crossAx val="-2113994440"/>
        <c:crosses val="autoZero"/>
        <c:auto val="1"/>
        <c:lblAlgn val="ctr"/>
        <c:lblOffset val="100"/>
        <c:noMultiLvlLbl val="0"/>
      </c:catAx>
      <c:valAx>
        <c:axId val="-2113994440"/>
        <c:scaling/>
        <c:delete val="0"/>
        <c:axPos val="l"/>
        <c:majorGridlines>
          <c:spPr>
            <a:ln w="9525">
              <a:solidFill>
                <a:srgbClr val="D8DEE8"/>
              </a:solidFill>
            </a:ln>
          </c:spPr>
        </c:majorGridlines>
        <c:majorTickMark val="out"/>
        <c:minorTickMark val="none"/>
        <c:tickLblPos val="nextTo"/>
        <c:spPr>
          <a:ln>
            <a:solidFill>
              <a:srgbClr val="D8DEE8"/>
            </a:solidFill>
          </a:ln>
        </c:spPr>
        <c:txPr>
          <a:bodyPr/>
          <a:lstStyle/>
          <a:p>
            <a:pPr>
              <a:defRPr sz="1100">
                <a:solidFill>
                  <a:srgbClr val="767676"/>
                </a:solidFill>
                <a:latin typeface="Calibri"/>
              </a:defRPr>
            </a:pPr>
          </a:p>
        </c:txPr>
        <c:crossAx val="-2068027336"/>
        <c:crosses val="autoZero"/>
      </c:valAx>
    </c:plotArea>
    <c:dispBlanksAs val="gap"/>
  </c:chart>
  <c:txPr>
    <a:bodyPr/>
    <a:lstStyle/>
    <a:p>
      <a:pPr>
        <a:defRPr sz="1100">
          <a:solidFill>
            <a:srgbClr val="76767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Retiros</c:v>
                </c:pt>
              </c:strCache>
            </c:strRef>
          </c:tx>
          <c:spPr>
            <a:solidFill>
              <a:srgbClr val="073269"/>
            </a:solidFill>
            <a:ln>
              <a:noFill/>
            </a:ln>
          </c:spPr>
          <c:cat>
            <c:strRef>
              <c:f>Sheet1!$A$2:$A$12</c:f>
              <c:strCache>
                <c:ptCount val="11"/>
                <c:pt idx="0">
                  <c:v>10</c:v>
                </c:pt>
                <c:pt idx="1">
                  <c:v>9</c:v>
                </c:pt>
                <c:pt idx="2">
                  <c:v>8</c:v>
                </c:pt>
                <c:pt idx="3">
                  <c:v>7</c:v>
                </c:pt>
                <c:pt idx="4">
                  <c:v>6</c:v>
                </c:pt>
                <c:pt idx="5">
                  <c:v>5</c:v>
                </c:pt>
                <c:pt idx="6">
                  <c:v>4</c:v>
                </c:pt>
                <c:pt idx="7">
                  <c:v>3</c:v>
                </c:pt>
                <c:pt idx="8">
                  <c:v>2</c:v>
                </c:pt>
                <c:pt idx="9">
                  <c:v>1</c:v>
                </c:pt>
                <c:pt idx="10">
                  <c:v>cierre</c:v>
                </c:pt>
              </c:strCache>
            </c:strRef>
          </c:cat>
          <c:val>
            <c:numRef>
              <c:f>Sheet1!$B$2:$B$12</c:f>
              <c:numCache>
                <c:formatCode>General</c:formatCode>
                <c:ptCount val="11"/>
                <c:pt idx="0">
                  <c:v>4.286769230769232</c:v>
                </c:pt>
                <c:pt idx="1">
                  <c:v>4.441046153846154</c:v>
                </c:pt>
                <c:pt idx="2">
                  <c:v>4.897630769230769</c:v>
                </c:pt>
                <c:pt idx="3">
                  <c:v>4.4761999999999995</c:v>
                </c:pt>
                <c:pt idx="4">
                  <c:v>4.2929076923076925</c:v>
                </c:pt>
                <c:pt idx="5">
                  <c:v>4.4199230769230775</c:v>
                </c:pt>
                <c:pt idx="6">
                  <c:v>4.324707692307692</c:v>
                </c:pt>
                <c:pt idx="7">
                  <c:v>5.075107692307691</c:v>
                </c:pt>
                <c:pt idx="8">
                  <c:v>5.940246153846154</c:v>
                </c:pt>
                <c:pt idx="9">
                  <c:v>6.154876923076923</c:v>
                </c:pt>
                <c:pt idx="10">
                  <c:v>10.341600000000001</c:v>
                </c:pt>
              </c:numCache>
            </c:numRef>
          </c:val>
        </c:ser>
        <c:ser>
          <c:idx val="1"/>
          <c:order val="1"/>
          <c:tx>
            <c:strRef>
              <c:f>Sheet1!$C$1</c:f>
              <c:strCache>
                <c:ptCount val="1"/>
                <c:pt idx="0">
                  <c:v>Depósitos</c:v>
                </c:pt>
              </c:strCache>
            </c:strRef>
          </c:tx>
          <c:spPr>
            <a:solidFill>
              <a:srgbClr val="C8A24B"/>
            </a:solidFill>
            <a:ln>
              <a:noFill/>
            </a:ln>
          </c:spPr>
          <c:cat>
            <c:strRef>
              <c:f>Sheet1!$A$2:$A$12</c:f>
              <c:strCache>
                <c:ptCount val="11"/>
                <c:pt idx="0">
                  <c:v>10</c:v>
                </c:pt>
                <c:pt idx="1">
                  <c:v>9</c:v>
                </c:pt>
                <c:pt idx="2">
                  <c:v>8</c:v>
                </c:pt>
                <c:pt idx="3">
                  <c:v>7</c:v>
                </c:pt>
                <c:pt idx="4">
                  <c:v>6</c:v>
                </c:pt>
                <c:pt idx="5">
                  <c:v>5</c:v>
                </c:pt>
                <c:pt idx="6">
                  <c:v>4</c:v>
                </c:pt>
                <c:pt idx="7">
                  <c:v>3</c:v>
                </c:pt>
                <c:pt idx="8">
                  <c:v>2</c:v>
                </c:pt>
                <c:pt idx="9">
                  <c:v>1</c:v>
                </c:pt>
                <c:pt idx="10">
                  <c:v>cierre</c:v>
                </c:pt>
              </c:strCache>
            </c:strRef>
          </c:cat>
          <c:val>
            <c:numRef>
              <c:f>Sheet1!$C$2:$C$12</c:f>
              <c:numCache>
                <c:formatCode>General</c:formatCode>
                <c:ptCount val="11"/>
                <c:pt idx="0">
                  <c:v>4.8388307692307695</c:v>
                </c:pt>
                <c:pt idx="1">
                  <c:v>4.383461538461539</c:v>
                </c:pt>
                <c:pt idx="2">
                  <c:v>4.402784615384615</c:v>
                </c:pt>
                <c:pt idx="3">
                  <c:v>4.425584615384616</c:v>
                </c:pt>
                <c:pt idx="4">
                  <c:v>4.038446153846152</c:v>
                </c:pt>
                <c:pt idx="5">
                  <c:v>4.4548</c:v>
                </c:pt>
                <c:pt idx="6">
                  <c:v>4.818907692307693</c:v>
                </c:pt>
                <c:pt idx="7">
                  <c:v>4.0336307692307685</c:v>
                </c:pt>
                <c:pt idx="8">
                  <c:v>3.9652923076923083</c:v>
                </c:pt>
                <c:pt idx="9">
                  <c:v>4.175015384615385</c:v>
                </c:pt>
                <c:pt idx="10">
                  <c:v>5.033799999999999</c:v>
                </c:pt>
              </c:numCache>
            </c:numRef>
          </c:val>
        </c:ser>
        <c:gapWidth val="80"/>
        <c:axId val="-2068027336"/>
        <c:axId val="-2113994440"/>
      </c:barChart>
      <c:catAx>
        <c:axId val="-2068027336"/>
        <c:scaling>
          <c:orientation val="minMax"/>
        </c:scaling>
        <c:delete val="0"/>
        <c:axPos val="b"/>
        <c:majorTickMark val="none"/>
        <c:minorTickMark val="none"/>
        <c:tickLblPos val="nextTo"/>
        <c:spPr>
          <a:ln>
            <a:solidFill>
              <a:srgbClr val="D8DEE8"/>
            </a:solidFill>
          </a:ln>
        </c:spPr>
        <c:txPr>
          <a:bodyPr/>
          <a:lstStyle/>
          <a:p>
            <a:pPr>
              <a:defRPr sz="1100">
                <a:solidFill>
                  <a:srgbClr val="767676"/>
                </a:solidFill>
                <a:latin typeface="Calibri"/>
              </a:defRPr>
            </a:pPr>
          </a:p>
        </c:txPr>
        <c:crossAx val="-2113994440"/>
        <c:crosses val="autoZero"/>
        <c:auto val="1"/>
        <c:lblAlgn val="ctr"/>
        <c:lblOffset val="100"/>
        <c:noMultiLvlLbl val="0"/>
      </c:catAx>
      <c:valAx>
        <c:axId val="-2113994440"/>
        <c:scaling/>
        <c:delete val="0"/>
        <c:axPos val="l"/>
        <c:majorGridlines>
          <c:spPr>
            <a:ln w="9525">
              <a:solidFill>
                <a:srgbClr val="D8DEE8"/>
              </a:solidFill>
            </a:ln>
          </c:spPr>
        </c:majorGridlines>
        <c:numFmt formatCode="0&quot;%&quot;" sourceLinked="0"/>
        <c:majorTickMark val="out"/>
        <c:minorTickMark val="none"/>
        <c:tickLblPos val="nextTo"/>
        <c:spPr>
          <a:ln>
            <a:solidFill>
              <a:srgbClr val="D8DEE8"/>
            </a:solidFill>
          </a:ln>
        </c:spPr>
        <c:txPr>
          <a:bodyPr/>
          <a:lstStyle/>
          <a:p>
            <a:pPr>
              <a:defRPr sz="1100">
                <a:solidFill>
                  <a:srgbClr val="767676"/>
                </a:solidFill>
                <a:latin typeface="Calibri"/>
              </a:defRPr>
            </a:pPr>
          </a:p>
        </c:txPr>
        <c:crossAx val="-2068027336"/>
        <c:crosses val="autoZero"/>
      </c:valAx>
    </c:plotArea>
    <c:legend>
      <c:legendPos val="b"/>
      <c:overlay val="0"/>
      <c:txPr>
        <a:bodyPr/>
        <a:lstStyle/>
        <a:p>
          <a:pPr>
            <a:defRPr sz="1100">
              <a:solidFill>
                <a:srgbClr val="002060"/>
              </a:solidFill>
            </a:defRPr>
          </a:pPr>
        </a:p>
      </c:txPr>
    </c:legend>
    <c:dispBlanksAs val="gap"/>
  </c:chart>
  <c:txPr>
    <a:bodyPr/>
    <a:lstStyle/>
    <a:p>
      <a:pPr>
        <a:defRPr sz="1100">
          <a:solidFill>
            <a:srgbClr val="76767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Participación</c:v>
                </c:pt>
              </c:strCache>
            </c:strRef>
          </c:tx>
          <c:spPr>
            <a:solidFill>
              <a:srgbClr val="073269"/>
            </a:solidFill>
            <a:ln>
              <a:noFill/>
            </a:ln>
          </c:spPr>
          <c:cat>
            <c:strRef>
              <c:f>Sheet1!$A$2:$A$17</c:f>
              <c:strCache>
                <c:ptCount val="16"/>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strCache>
            </c:strRef>
          </c:cat>
          <c:val>
            <c:numRef>
              <c:f>Sheet1!$B$2:$B$17</c:f>
              <c:numCache>
                <c:formatCode>General</c:formatCode>
                <c:ptCount val="16"/>
                <c:pt idx="0">
                  <c:v>10.475</c:v>
                </c:pt>
                <c:pt idx="1">
                  <c:v>38.59975</c:v>
                </c:pt>
                <c:pt idx="2">
                  <c:v>17.04725</c:v>
                </c:pt>
                <c:pt idx="3">
                  <c:v>48.15875</c:v>
                </c:pt>
                <c:pt idx="4">
                  <c:v>47.60975</c:v>
                </c:pt>
                <c:pt idx="5">
                  <c:v>37.69125</c:v>
                </c:pt>
                <c:pt idx="6">
                  <c:v>52.44975</c:v>
                </c:pt>
                <c:pt idx="7">
                  <c:v>70.72725</c:v>
                </c:pt>
                <c:pt idx="8">
                  <c:v>34.0595</c:v>
                </c:pt>
                <c:pt idx="9">
                  <c:v>64.56625</c:v>
                </c:pt>
                <c:pt idx="10">
                  <c:v>82.0715</c:v>
                </c:pt>
                <c:pt idx="11">
                  <c:v>27.21575</c:v>
                </c:pt>
                <c:pt idx="12">
                  <c:v>72.625</c:v>
                </c:pt>
                <c:pt idx="13">
                  <c:v>70.15225</c:v>
                </c:pt>
                <c:pt idx="14">
                  <c:v>85.88</c:v>
                </c:pt>
                <c:pt idx="15">
                  <c:v>81.81875</c:v>
                </c:pt>
              </c:numCache>
            </c:numRef>
          </c:val>
        </c:ser>
        <c:gapWidth val="60"/>
        <c:axId val="-2068027336"/>
        <c:axId val="-2113994440"/>
      </c:barChart>
      <c:catAx>
        <c:axId val="-2068027336"/>
        <c:scaling>
          <c:orientation val="minMax"/>
        </c:scaling>
        <c:delete val="0"/>
        <c:axPos val="b"/>
        <c:majorTickMark val="none"/>
        <c:minorTickMark val="none"/>
        <c:tickLblPos val="nextTo"/>
        <c:spPr>
          <a:ln>
            <a:solidFill>
              <a:srgbClr val="D8DEE8"/>
            </a:solidFill>
          </a:ln>
        </c:spPr>
        <c:txPr>
          <a:bodyPr/>
          <a:lstStyle/>
          <a:p>
            <a:pPr>
              <a:defRPr sz="1100">
                <a:solidFill>
                  <a:srgbClr val="767676"/>
                </a:solidFill>
                <a:latin typeface="Calibri"/>
              </a:defRPr>
            </a:pPr>
          </a:p>
        </c:txPr>
        <c:crossAx val="-2113994440"/>
        <c:crosses val="autoZero"/>
        <c:auto val="1"/>
        <c:lblAlgn val="ctr"/>
        <c:lblOffset val="100"/>
        <c:noMultiLvlLbl val="0"/>
      </c:catAx>
      <c:valAx>
        <c:axId val="-2113994440"/>
        <c:scaling/>
        <c:delete val="0"/>
        <c:axPos val="l"/>
        <c:majorGridlines>
          <c:spPr>
            <a:ln w="9525">
              <a:solidFill>
                <a:srgbClr val="D8DEE8"/>
              </a:solidFill>
            </a:ln>
          </c:spPr>
        </c:majorGridlines>
        <c:numFmt formatCode="0&quot;%&quot;" sourceLinked="0"/>
        <c:majorTickMark val="out"/>
        <c:minorTickMark val="none"/>
        <c:tickLblPos val="nextTo"/>
        <c:spPr>
          <a:ln>
            <a:solidFill>
              <a:srgbClr val="D8DEE8"/>
            </a:solidFill>
          </a:ln>
        </c:spPr>
        <c:txPr>
          <a:bodyPr/>
          <a:lstStyle/>
          <a:p>
            <a:pPr>
              <a:defRPr sz="1100">
                <a:solidFill>
                  <a:srgbClr val="767676"/>
                </a:solidFill>
                <a:latin typeface="Calibri"/>
              </a:defRPr>
            </a:pPr>
          </a:p>
        </c:txPr>
        <c:crossAx val="-2068027336"/>
        <c:crosses val="autoZero"/>
      </c:valAx>
    </c:plotArea>
    <c:dispBlanksAs val="gap"/>
  </c:chart>
  <c:txPr>
    <a:bodyPr/>
    <a:lstStyle/>
    <a:p>
      <a:pPr>
        <a:defRPr sz="1100">
          <a:solidFill>
            <a:srgbClr val="767676"/>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6281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4D1DD-D8AB-BDF9-AE31-13A4E8F4A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6EED5-B302-5823-0721-124E64F63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F20EB-2BCE-C5B1-F78A-FD435ECF0A87}"/>
              </a:ext>
            </a:extLst>
          </p:cNvPr>
          <p:cNvSpPr>
            <a:spLocks noGrp="1"/>
          </p:cNvSpPr>
          <p:nvPr>
            <p:ph type="body" idx="1"/>
          </p:nvPr>
        </p:nvSpPr>
        <p:spPr/>
        <p:txBody>
          <a:bodyPr/>
          <a:lstStyle/>
          <a:p>
            <a:r>
              <a:rPr lang="en-US" dirty="0"/>
              <a:t>Confirmar el departamento emisor antes de presentar.</a:t>
            </a:r>
          </a:p>
        </p:txBody>
      </p:sp>
      <p:sp>
        <p:nvSpPr>
          <p:cNvPr id="4" name="Slide Number Placeholder 3">
            <a:extLst>
              <a:ext uri="{FF2B5EF4-FFF2-40B4-BE49-F238E27FC236}">
                <a16:creationId xmlns:a16="http://schemas.microsoft.com/office/drawing/2014/main" id="{2C096FB5-BC7E-F561-FA25-03D2CBD41E38}"/>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888725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portafolios y sus plazos. La propuesta atiende el pilar de liquidez.</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Definición de la variable y las tres dimensiones de análisis.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hallazgos sobre la serie 2010–2026.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del día de vencimiento subestima el requerimiento del período.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Definición del indicador y por qué se mide desde el origen.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Ficha del entregable: qué es, qué se modela, cómo y para qué.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Representación del formato de salida, no un pronóstico.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relevancia y la invitación a trabajarlo en conjunto.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DBF23-2B02-D357-C21C-F23DA5737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1807D-6095-2055-EFBC-E0DF0CCEC5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2052A-CA1F-4B47-6F1D-84C9884404B5}"/>
              </a:ext>
            </a:extLst>
          </p:cNvPr>
          <p:cNvSpPr>
            <a:spLocks noGrp="1"/>
          </p:cNvSpPr>
          <p:nvPr>
            <p:ph type="body" idx="1"/>
          </p:nvPr>
        </p:nvSpPr>
        <p:spPr/>
        <p:txBody>
          <a:bodyPr/>
          <a:lstStyle/>
          <a:p>
            <a:r>
              <a:rPr lang="en-US" dirty="0"/>
              <a:t>Confirmar el departamento emisor antes de presentar.</a:t>
            </a:r>
          </a:p>
        </p:txBody>
      </p:sp>
      <p:sp>
        <p:nvSpPr>
          <p:cNvPr id="4" name="Slide Number Placeholder 3">
            <a:extLst>
              <a:ext uri="{FF2B5EF4-FFF2-40B4-BE49-F238E27FC236}">
                <a16:creationId xmlns:a16="http://schemas.microsoft.com/office/drawing/2014/main" id="{07D3F675-6F23-D05F-80AF-F79E8FBFBCD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77744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EDB42-32F1-862E-CA67-5D9842FAECC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68E4EA8-20AD-09A3-10E7-962F2E49B15E}"/>
              </a:ext>
            </a:extLst>
          </p:cNvPr>
          <p:cNvSpPr txBox="1"/>
          <p:nvPr/>
        </p:nvSpPr>
        <p:spPr>
          <a:xfrm>
            <a:off x="1028268" y="2148840"/>
            <a:ext cx="9994392" cy="1280160"/>
          </a:xfrm>
          <a:prstGeom prst="rect">
            <a:avLst/>
          </a:prstGeom>
          <a:noFill/>
          <a:ln/>
        </p:spPr>
        <p:txBody>
          <a:bodyPr wrap="square" lIns="0" tIns="0" rIns="0" bIns="0" rtlCol="0" anchor="ctr"/>
          <a:lstStyle/>
          <a:p>
            <a:pPr marL="0" indent="0" algn="ctr">
              <a:lnSpc>
                <a:spcPts val="3800"/>
              </a:lnSpc>
              <a:buNone/>
            </a:pPr>
            <a:r>
              <a:rPr lang="en-US" sz="2800" b="1" dirty="0">
                <a:solidFill>
                  <a:srgbClr val="073269"/>
                </a:solidFill>
                <a:latin typeface="Calibri" pitchFamily="34" charset="0"/>
                <a:ea typeface="Calibri" pitchFamily="34" charset="-122"/>
                <a:cs typeface="Calibri" pitchFamily="34" charset="-120"/>
              </a:rPr>
              <a:t>SISTEMA DE ANÁLISIS Y ESTIMACIÓN</a:t>
            </a:r>
            <a:endParaRPr lang="en-US" sz="2800" dirty="0"/>
          </a:p>
          <a:p>
            <a:pPr marL="0" indent="0" algn="ctr">
              <a:lnSpc>
                <a:spcPts val="3800"/>
              </a:lnSpc>
              <a:buNone/>
            </a:pPr>
            <a:r>
              <a:rPr lang="en-US" sz="2800" b="1" dirty="0">
                <a:solidFill>
                  <a:srgbClr val="073269"/>
                </a:solidFill>
                <a:latin typeface="Calibri" pitchFamily="34" charset="0"/>
                <a:ea typeface="Calibri" pitchFamily="34" charset="-122"/>
                <a:cs typeface="Calibri" pitchFamily="34" charset="-120"/>
              </a:rPr>
              <a:t>DE REQUERIMIENTOS DE LIQUIDEZ</a:t>
            </a:r>
            <a:endParaRPr lang="en-US" sz="2800" dirty="0"/>
          </a:p>
        </p:txBody>
      </p:sp>
      <p:sp>
        <p:nvSpPr>
          <p:cNvPr id="3" name="Shape 1">
            <a:extLst>
              <a:ext uri="{FF2B5EF4-FFF2-40B4-BE49-F238E27FC236}">
                <a16:creationId xmlns:a16="http://schemas.microsoft.com/office/drawing/2014/main" id="{66BB9AA8-2211-A47F-FF67-F50DF03A296A}"/>
              </a:ext>
            </a:extLst>
          </p:cNvPr>
          <p:cNvSpPr/>
          <p:nvPr/>
        </p:nvSpPr>
        <p:spPr>
          <a:xfrm>
            <a:off x="5618556" y="3584448"/>
            <a:ext cx="822960" cy="45720"/>
          </a:xfrm>
          <a:prstGeom prst="rect">
            <a:avLst/>
          </a:prstGeom>
          <a:solidFill>
            <a:srgbClr val="C8A24B"/>
          </a:solidFill>
          <a:ln/>
        </p:spPr>
        <p:txBody>
          <a:bodyPr/>
          <a:lstStyle/>
          <a:p>
            <a:endParaRPr lang="es-PE"/>
          </a:p>
        </p:txBody>
      </p:sp>
      <p:sp>
        <p:nvSpPr>
          <p:cNvPr id="4" name="Text 2">
            <a:extLst>
              <a:ext uri="{FF2B5EF4-FFF2-40B4-BE49-F238E27FC236}">
                <a16:creationId xmlns:a16="http://schemas.microsoft.com/office/drawing/2014/main" id="{6D77161A-20EB-9D1D-03D9-85A385975AC7}"/>
              </a:ext>
            </a:extLst>
          </p:cNvPr>
          <p:cNvSpPr txBox="1"/>
          <p:nvPr/>
        </p:nvSpPr>
        <p:spPr>
          <a:xfrm>
            <a:off x="1668348" y="3840480"/>
            <a:ext cx="8714232" cy="365760"/>
          </a:xfrm>
          <a:prstGeom prst="rect">
            <a:avLst/>
          </a:prstGeom>
          <a:noFill/>
          <a:ln/>
        </p:spPr>
        <p:txBody>
          <a:bodyPr wrap="square" lIns="0" tIns="0" rIns="0" bIns="0" rtlCol="0" anchor="ctr"/>
          <a:lstStyle/>
          <a:p>
            <a:pPr marL="0" indent="0" algn="ctr">
              <a:buNone/>
            </a:pPr>
            <a:r>
              <a:rPr lang="en-US" sz="1800" dirty="0">
                <a:solidFill>
                  <a:srgbClr val="002060"/>
                </a:solidFill>
                <a:latin typeface="Calibri" pitchFamily="34" charset="0"/>
                <a:ea typeface="Calibri" pitchFamily="34" charset="-122"/>
                <a:cs typeface="Calibri" pitchFamily="34" charset="-120"/>
              </a:rPr>
              <a:t>Dinámica de los depósitos y retiros en moneda extranjera</a:t>
            </a:r>
            <a:endParaRPr lang="en-US" sz="1800" dirty="0"/>
          </a:p>
        </p:txBody>
      </p:sp>
      <p:pic>
        <p:nvPicPr>
          <p:cNvPr id="7" name="Image 0" descr="kori_media/image2.jpeg">
            <a:extLst>
              <a:ext uri="{FF2B5EF4-FFF2-40B4-BE49-F238E27FC236}">
                <a16:creationId xmlns:a16="http://schemas.microsoft.com/office/drawing/2014/main" id="{D8260439-8BEF-41C4-BED1-54136235A757}"/>
              </a:ext>
            </a:extLst>
          </p:cNvPr>
          <p:cNvPicPr>
            <a:picLocks noChangeAspect="1"/>
          </p:cNvPicPr>
          <p:nvPr/>
        </p:nvPicPr>
        <p:blipFill>
          <a:blip r:embed="rId3"/>
          <a:stretch>
            <a:fillRect/>
          </a:stretch>
        </p:blipFill>
        <p:spPr>
          <a:xfrm>
            <a:off x="0" y="0"/>
            <a:ext cx="12188952" cy="1335024"/>
          </a:xfrm>
          <a:prstGeom prst="rect">
            <a:avLst/>
          </a:prstGeom>
        </p:spPr>
      </p:pic>
      <p:pic>
        <p:nvPicPr>
          <p:cNvPr id="9" name="Image 1" descr="kori_media/image3.png">
            <a:extLst>
              <a:ext uri="{FF2B5EF4-FFF2-40B4-BE49-F238E27FC236}">
                <a16:creationId xmlns:a16="http://schemas.microsoft.com/office/drawing/2014/main" id="{217E371E-DBF5-CF00-375F-84400CA68CA6}"/>
              </a:ext>
            </a:extLst>
          </p:cNvPr>
          <p:cNvPicPr>
            <a:picLocks noChangeAspect="1"/>
          </p:cNvPicPr>
          <p:nvPr/>
        </p:nvPicPr>
        <p:blipFill>
          <a:blip r:embed="rId4"/>
          <a:stretch>
            <a:fillRect/>
          </a:stretch>
        </p:blipFill>
        <p:spPr>
          <a:xfrm>
            <a:off x="0" y="5559552"/>
            <a:ext cx="12188952" cy="1298448"/>
          </a:xfrm>
          <a:prstGeom prst="rect">
            <a:avLst/>
          </a:prstGeom>
        </p:spPr>
      </p:pic>
    </p:spTree>
    <p:extLst>
      <p:ext uri="{BB962C8B-B14F-4D97-AF65-F5344CB8AC3E}">
        <p14:creationId xmlns:p14="http://schemas.microsoft.com/office/powerpoint/2010/main" val="3111203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86968" y="521208"/>
            <a:ext cx="10405872" cy="640080"/>
          </a:xfrm>
          <a:prstGeom prst="rect">
            <a:avLst/>
          </a:prstGeom>
          <a:noFill/>
          <a:ln/>
        </p:spPr>
        <p:txBody>
          <a:bodyPr wrap="square" lIns="0" tIns="0" rIns="0" bIns="0" rtlCol="0" anchor="ctr"/>
          <a:lstStyle/>
          <a:p>
            <a:pPr marL="0" indent="0">
              <a:buNone/>
            </a:pPr>
            <a:r>
              <a:rPr lang="en-US" sz="2800" b="1" dirty="0">
                <a:solidFill>
                  <a:srgbClr val="073269"/>
                </a:solidFill>
                <a:latin typeface="Calibri" pitchFamily="34" charset="0"/>
                <a:ea typeface="Calibri" pitchFamily="34" charset="-122"/>
                <a:cs typeface="Calibri" pitchFamily="34" charset="-120"/>
              </a:rPr>
              <a:t>I. Alcance de la propuesta</a:t>
            </a:r>
            <a:endParaRPr lang="en-US" sz="2800" dirty="0"/>
          </a:p>
        </p:txBody>
      </p:sp>
      <p:sp>
        <p:nvSpPr>
          <p:cNvPr id="3" name="Shape 1"/>
          <p:cNvSpPr/>
          <p:nvPr/>
        </p:nvSpPr>
        <p:spPr>
          <a:xfrm>
            <a:off x="886968" y="1307592"/>
            <a:ext cx="822960" cy="45720"/>
          </a:xfrm>
          <a:prstGeom prst="rect">
            <a:avLst/>
          </a:prstGeom>
          <a:solidFill>
            <a:srgbClr val="C8A24B"/>
          </a:solidFill>
          <a:ln/>
        </p:spPr>
        <p:txBody>
          <a:bodyPr/>
          <a:lstStyle/>
          <a:p>
            <a:endParaRPr lang="es-PE"/>
          </a:p>
        </p:txBody>
      </p:sp>
      <p:sp>
        <p:nvSpPr>
          <p:cNvPr id="4" name="Text 2"/>
          <p:cNvSpPr txBox="1"/>
          <p:nvPr/>
        </p:nvSpPr>
        <p:spPr>
          <a:xfrm>
            <a:off x="886968" y="1783080"/>
            <a:ext cx="10405872" cy="1600200"/>
          </a:xfrm>
          <a:prstGeom prst="rect">
            <a:avLst/>
          </a:prstGeom>
          <a:noFill/>
          <a:ln/>
        </p:spPr>
        <p:txBody>
          <a:bodyPr wrap="square" lIns="0" tIns="0" rIns="0" bIns="0" rtlCol="0" anchor="t"/>
          <a:lstStyle/>
          <a:p>
            <a:pPr marL="0" indent="0" algn="just">
              <a:lnSpc>
                <a:spcPts val="2400"/>
              </a:lnSpc>
              <a:buNone/>
            </a:pPr>
            <a:r>
              <a:rPr lang="en-US" sz="1600" dirty="0">
                <a:solidFill>
                  <a:srgbClr val="002060"/>
                </a:solidFill>
                <a:latin typeface="Calibri" pitchFamily="34" charset="0"/>
                <a:ea typeface="Calibri" pitchFamily="34" charset="-122"/>
                <a:cs typeface="Calibri" pitchFamily="34" charset="-120"/>
              </a:rPr>
              <a:t>Los ingresos netos del Sistema Financiero se depositan en dos portafolios de corto plazo, desde los cuales los recursos se asignan a distintos instrumentos y plazos de </a:t>
            </a:r>
            <a:r>
              <a:rPr lang="en-US" sz="1600" i="1" dirty="0">
                <a:solidFill>
                  <a:srgbClr val="002060"/>
                </a:solidFill>
                <a:latin typeface="Calibri" pitchFamily="34" charset="0"/>
                <a:ea typeface="Calibri" pitchFamily="34" charset="-122"/>
                <a:cs typeface="Calibri" pitchFamily="34" charset="-120"/>
              </a:rPr>
              <a:t>money market</a:t>
            </a:r>
            <a:r>
              <a:rPr lang="en-US" sz="1600" dirty="0">
                <a:solidFill>
                  <a:srgbClr val="002060"/>
                </a:solidFill>
                <a:latin typeface="Calibri" pitchFamily="34" charset="0"/>
                <a:ea typeface="Calibri" pitchFamily="34" charset="-122"/>
                <a:cs typeface="Calibri" pitchFamily="34" charset="-120"/>
              </a:rPr>
              <a:t>. </a:t>
            </a:r>
            <a:r>
              <a:rPr lang="en-US" sz="1600" dirty="0" err="1">
                <a:solidFill>
                  <a:srgbClr val="002060"/>
                </a:solidFill>
                <a:latin typeface="Calibri" pitchFamily="34" charset="0"/>
                <a:ea typeface="Calibri" pitchFamily="34" charset="-122"/>
                <a:cs typeface="Calibri" pitchFamily="34" charset="-120"/>
              </a:rPr>
              <a:t>Asímismo</a:t>
            </a:r>
            <a:r>
              <a:rPr lang="en-US" sz="1600" dirty="0">
                <a:solidFill>
                  <a:srgbClr val="002060"/>
                </a:solidFill>
                <a:latin typeface="Calibri" pitchFamily="34" charset="0"/>
                <a:ea typeface="Calibri" pitchFamily="34" charset="-122"/>
                <a:cs typeface="Calibri" pitchFamily="34" charset="-120"/>
              </a:rPr>
              <a:t>, la gestión de las Reservas Internacionales Netas se rige por tres pilares: seguridad, liquidez y retorno. La presente propuesta se orienta al segundo de ellos, en los tramos de corto plazo, y no busca prescribir la gestión de liquidez sino aportar una referencia del entorno de riesgo en el que se decide.</a:t>
            </a:r>
            <a:endParaRPr lang="en-US" sz="1600" dirty="0"/>
          </a:p>
        </p:txBody>
      </p:sp>
      <p:sp>
        <p:nvSpPr>
          <p:cNvPr id="5" name="Shape 3"/>
          <p:cNvSpPr/>
          <p:nvPr/>
        </p:nvSpPr>
        <p:spPr>
          <a:xfrm>
            <a:off x="886968" y="3611880"/>
            <a:ext cx="5065776" cy="2148840"/>
          </a:xfrm>
          <a:prstGeom prst="rect">
            <a:avLst/>
          </a:prstGeom>
          <a:solidFill>
            <a:srgbClr val="F4F6F9"/>
          </a:solidFill>
          <a:ln w="9525">
            <a:solidFill>
              <a:srgbClr val="D8DEE8"/>
            </a:solidFill>
            <a:prstDash val="solid"/>
          </a:ln>
        </p:spPr>
        <p:txBody>
          <a:bodyPr/>
          <a:lstStyle/>
          <a:p>
            <a:endParaRPr lang="es-PE"/>
          </a:p>
        </p:txBody>
      </p:sp>
      <p:sp>
        <p:nvSpPr>
          <p:cNvPr id="6" name="Text 4"/>
          <p:cNvSpPr txBox="1"/>
          <p:nvPr/>
        </p:nvSpPr>
        <p:spPr>
          <a:xfrm>
            <a:off x="1161288" y="3813048"/>
            <a:ext cx="4517136" cy="274320"/>
          </a:xfrm>
          <a:prstGeom prst="rect">
            <a:avLst/>
          </a:prstGeom>
          <a:noFill/>
          <a:ln/>
        </p:spPr>
        <p:txBody>
          <a:bodyPr wrap="square" lIns="0" tIns="0" rIns="0" bIns="0" rtlCol="0" anchor="ctr"/>
          <a:lstStyle/>
          <a:p>
            <a:pPr marL="0" indent="0">
              <a:buNone/>
            </a:pPr>
            <a:r>
              <a:rPr lang="en-US" sz="1500" b="1" dirty="0">
                <a:solidFill>
                  <a:srgbClr val="073269"/>
                </a:solidFill>
                <a:latin typeface="Calibri" pitchFamily="34" charset="0"/>
                <a:ea typeface="Calibri" pitchFamily="34" charset="-122"/>
                <a:cs typeface="Calibri" pitchFamily="34" charset="-120"/>
              </a:rPr>
              <a:t>Portafolio de disponibilidad inmediata</a:t>
            </a:r>
            <a:endParaRPr lang="en-US" sz="1500" dirty="0"/>
          </a:p>
        </p:txBody>
      </p:sp>
      <p:sp>
        <p:nvSpPr>
          <p:cNvPr id="7" name="Text 5"/>
          <p:cNvSpPr txBox="1"/>
          <p:nvPr/>
        </p:nvSpPr>
        <p:spPr>
          <a:xfrm>
            <a:off x="1161288" y="4123944"/>
            <a:ext cx="4517136" cy="237744"/>
          </a:xfrm>
          <a:prstGeom prst="rect">
            <a:avLst/>
          </a:prstGeom>
          <a:noFill/>
          <a:ln/>
        </p:spPr>
        <p:txBody>
          <a:bodyPr wrap="square" lIns="0" tIns="0" rIns="0" bIns="0" rtlCol="0" anchor="ctr"/>
          <a:lstStyle/>
          <a:p>
            <a:pPr marL="0" indent="0">
              <a:buNone/>
            </a:pPr>
            <a:r>
              <a:rPr lang="en-US" sz="1200" b="1" dirty="0">
                <a:solidFill>
                  <a:srgbClr val="C8A24B"/>
                </a:solidFill>
                <a:latin typeface="Calibri" pitchFamily="34" charset="0"/>
                <a:ea typeface="Calibri" pitchFamily="34" charset="-122"/>
                <a:cs typeface="Calibri" pitchFamily="34" charset="-120"/>
              </a:rPr>
              <a:t>Plazo de inversión: hasta 1 semana</a:t>
            </a:r>
            <a:endParaRPr lang="en-US" sz="1200" dirty="0"/>
          </a:p>
        </p:txBody>
      </p:sp>
      <p:sp>
        <p:nvSpPr>
          <p:cNvPr id="8" name="Text 6"/>
          <p:cNvSpPr txBox="1"/>
          <p:nvPr/>
        </p:nvSpPr>
        <p:spPr>
          <a:xfrm>
            <a:off x="1161288" y="4453128"/>
            <a:ext cx="4517136" cy="1097280"/>
          </a:xfrm>
          <a:prstGeom prst="rect">
            <a:avLst/>
          </a:prstGeom>
          <a:noFill/>
          <a:ln/>
        </p:spPr>
        <p:txBody>
          <a:bodyPr wrap="square" lIns="0" tIns="0" rIns="0" bIns="0" rtlCol="0" anchor="t"/>
          <a:lstStyle/>
          <a:p>
            <a:pPr marL="0" indent="0" algn="just">
              <a:lnSpc>
                <a:spcPts val="1800"/>
              </a:lnSpc>
              <a:buNone/>
            </a:pPr>
            <a:r>
              <a:rPr lang="en-US" sz="1300" dirty="0">
                <a:solidFill>
                  <a:srgbClr val="002060"/>
                </a:solidFill>
                <a:latin typeface="Calibri" pitchFamily="34" charset="0"/>
                <a:ea typeface="Calibri" pitchFamily="34" charset="-122"/>
                <a:cs typeface="Calibri" pitchFamily="34" charset="-120"/>
              </a:rPr>
              <a:t>Cubre el requerimiento más cercano en el tiempo. El monto que debe mantener disponible corresponde a la caída máxima que el flujo acumulado puede alcanzar dentro de esa ventana.</a:t>
            </a:r>
            <a:endParaRPr lang="en-US" sz="1300" dirty="0"/>
          </a:p>
        </p:txBody>
      </p:sp>
      <p:sp>
        <p:nvSpPr>
          <p:cNvPr id="9" name="Shape 7"/>
          <p:cNvSpPr/>
          <p:nvPr/>
        </p:nvSpPr>
        <p:spPr>
          <a:xfrm>
            <a:off x="6227064" y="3611880"/>
            <a:ext cx="5065776" cy="2148840"/>
          </a:xfrm>
          <a:prstGeom prst="rect">
            <a:avLst/>
          </a:prstGeom>
          <a:solidFill>
            <a:srgbClr val="F4F6F9"/>
          </a:solidFill>
          <a:ln w="9525">
            <a:solidFill>
              <a:srgbClr val="D8DEE8"/>
            </a:solidFill>
            <a:prstDash val="solid"/>
          </a:ln>
        </p:spPr>
        <p:txBody>
          <a:bodyPr/>
          <a:lstStyle/>
          <a:p>
            <a:endParaRPr lang="es-PE"/>
          </a:p>
        </p:txBody>
      </p:sp>
      <p:sp>
        <p:nvSpPr>
          <p:cNvPr id="10" name="Text 8"/>
          <p:cNvSpPr txBox="1"/>
          <p:nvPr/>
        </p:nvSpPr>
        <p:spPr>
          <a:xfrm>
            <a:off x="6501384" y="3813048"/>
            <a:ext cx="4517136" cy="274320"/>
          </a:xfrm>
          <a:prstGeom prst="rect">
            <a:avLst/>
          </a:prstGeom>
          <a:noFill/>
          <a:ln/>
        </p:spPr>
        <p:txBody>
          <a:bodyPr wrap="square" lIns="0" tIns="0" rIns="0" bIns="0" rtlCol="0" anchor="ctr"/>
          <a:lstStyle/>
          <a:p>
            <a:pPr marL="0" indent="0">
              <a:buNone/>
            </a:pPr>
            <a:r>
              <a:rPr lang="en-US" sz="1500" b="1" dirty="0">
                <a:solidFill>
                  <a:srgbClr val="073269"/>
                </a:solidFill>
                <a:latin typeface="Calibri" pitchFamily="34" charset="0"/>
                <a:ea typeface="Calibri" pitchFamily="34" charset="-122"/>
                <a:cs typeface="Calibri" pitchFamily="34" charset="-120"/>
              </a:rPr>
              <a:t>Portafolio de liquidez</a:t>
            </a:r>
            <a:endParaRPr lang="en-US" sz="1500" dirty="0"/>
          </a:p>
        </p:txBody>
      </p:sp>
      <p:sp>
        <p:nvSpPr>
          <p:cNvPr id="11" name="Text 9"/>
          <p:cNvSpPr txBox="1"/>
          <p:nvPr/>
        </p:nvSpPr>
        <p:spPr>
          <a:xfrm>
            <a:off x="6501384" y="4123944"/>
            <a:ext cx="4517136" cy="237744"/>
          </a:xfrm>
          <a:prstGeom prst="rect">
            <a:avLst/>
          </a:prstGeom>
          <a:noFill/>
          <a:ln/>
        </p:spPr>
        <p:txBody>
          <a:bodyPr wrap="square" lIns="0" tIns="0" rIns="0" bIns="0" rtlCol="0" anchor="ctr"/>
          <a:lstStyle/>
          <a:p>
            <a:pPr marL="0" indent="0">
              <a:buNone/>
            </a:pPr>
            <a:r>
              <a:rPr lang="en-US" sz="1200" b="1" dirty="0">
                <a:solidFill>
                  <a:srgbClr val="C8A24B"/>
                </a:solidFill>
                <a:latin typeface="Calibri" pitchFamily="34" charset="0"/>
                <a:ea typeface="Calibri" pitchFamily="34" charset="-122"/>
                <a:cs typeface="Calibri" pitchFamily="34" charset="-120"/>
              </a:rPr>
              <a:t>Plazo de inversión: hasta 3 meses</a:t>
            </a:r>
            <a:endParaRPr lang="en-US" sz="1200" dirty="0"/>
          </a:p>
        </p:txBody>
      </p:sp>
      <p:sp>
        <p:nvSpPr>
          <p:cNvPr id="12" name="Text 10"/>
          <p:cNvSpPr txBox="1"/>
          <p:nvPr/>
        </p:nvSpPr>
        <p:spPr>
          <a:xfrm>
            <a:off x="6501384" y="4453128"/>
            <a:ext cx="4517136" cy="1097280"/>
          </a:xfrm>
          <a:prstGeom prst="rect">
            <a:avLst/>
          </a:prstGeom>
          <a:noFill/>
          <a:ln/>
        </p:spPr>
        <p:txBody>
          <a:bodyPr wrap="square" lIns="0" tIns="0" rIns="0" bIns="0" rtlCol="0" anchor="t"/>
          <a:lstStyle/>
          <a:p>
            <a:pPr marL="0" indent="0" algn="just">
              <a:lnSpc>
                <a:spcPts val="1800"/>
              </a:lnSpc>
              <a:buNone/>
            </a:pPr>
            <a:r>
              <a:rPr lang="en-US" sz="1300" dirty="0">
                <a:solidFill>
                  <a:srgbClr val="002060"/>
                </a:solidFill>
                <a:latin typeface="Calibri" pitchFamily="34" charset="0"/>
                <a:ea typeface="Calibri" pitchFamily="34" charset="-122"/>
                <a:cs typeface="Calibri" pitchFamily="34" charset="-120"/>
              </a:rPr>
              <a:t>Cubre el resto del horizonte de corto plazo. Por </a:t>
            </a:r>
            <a:r>
              <a:rPr lang="en-US" sz="1300" dirty="0" err="1">
                <a:solidFill>
                  <a:srgbClr val="002060"/>
                </a:solidFill>
                <a:latin typeface="Calibri" pitchFamily="34" charset="0"/>
                <a:ea typeface="Calibri" pitchFamily="34" charset="-122"/>
                <a:cs typeface="Calibri" pitchFamily="34" charset="-120"/>
              </a:rPr>
              <a:t>consiguiente</a:t>
            </a:r>
            <a:r>
              <a:rPr lang="en-US" sz="1300" dirty="0">
                <a:solidFill>
                  <a:srgbClr val="002060"/>
                </a:solidFill>
                <a:latin typeface="Calibri" pitchFamily="34" charset="0"/>
                <a:ea typeface="Calibri" pitchFamily="34" charset="-122"/>
                <a:cs typeface="Calibri" pitchFamily="34" charset="-120"/>
              </a:rPr>
              <a:t>, </a:t>
            </a:r>
            <a:r>
              <a:rPr lang="en-US" sz="1300" dirty="0" err="1">
                <a:solidFill>
                  <a:srgbClr val="002060"/>
                </a:solidFill>
                <a:latin typeface="Calibri" pitchFamily="34" charset="0"/>
                <a:ea typeface="Calibri" pitchFamily="34" charset="-122"/>
                <a:cs typeface="Calibri" pitchFamily="34" charset="-120"/>
              </a:rPr>
              <a:t>cada</a:t>
            </a:r>
            <a:r>
              <a:rPr lang="en-US" sz="1300" dirty="0">
                <a:solidFill>
                  <a:srgbClr val="002060"/>
                </a:solidFill>
                <a:latin typeface="Calibri" pitchFamily="34" charset="0"/>
                <a:ea typeface="Calibri" pitchFamily="34" charset="-122"/>
                <a:cs typeface="Calibri" pitchFamily="34" charset="-120"/>
              </a:rPr>
              <a:t> tramo se dimensiona contra la caída máxima acumulada de su propio plazo, que no puede disminuir al alargar el horizonte.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86968" y="521208"/>
            <a:ext cx="10405872" cy="640080"/>
          </a:xfrm>
          <a:prstGeom prst="rect">
            <a:avLst/>
          </a:prstGeom>
          <a:noFill/>
          <a:ln/>
        </p:spPr>
        <p:txBody>
          <a:bodyPr wrap="square" lIns="0" tIns="0" rIns="0" bIns="0" rtlCol="0" anchor="ctr"/>
          <a:lstStyle/>
          <a:p>
            <a:pPr marL="0" indent="0">
              <a:buNone/>
            </a:pPr>
            <a:r>
              <a:rPr lang="en-US" sz="2800" b="1" dirty="0">
                <a:solidFill>
                  <a:srgbClr val="073269"/>
                </a:solidFill>
                <a:latin typeface="Calibri" pitchFamily="34" charset="0"/>
                <a:ea typeface="Calibri" pitchFamily="34" charset="-122"/>
                <a:cs typeface="Calibri" pitchFamily="34" charset="-120"/>
              </a:rPr>
              <a:t>II. Variable analizada</a:t>
            </a:r>
            <a:endParaRPr lang="en-US" sz="2800" dirty="0"/>
          </a:p>
        </p:txBody>
      </p:sp>
      <p:sp>
        <p:nvSpPr>
          <p:cNvPr id="3" name="Shape 1"/>
          <p:cNvSpPr/>
          <p:nvPr/>
        </p:nvSpPr>
        <p:spPr>
          <a:xfrm>
            <a:off x="886968" y="1307592"/>
            <a:ext cx="822960" cy="45720"/>
          </a:xfrm>
          <a:prstGeom prst="rect">
            <a:avLst/>
          </a:prstGeom>
          <a:solidFill>
            <a:srgbClr val="C8A24B"/>
          </a:solidFill>
          <a:ln/>
        </p:spPr>
        <p:txBody>
          <a:bodyPr/>
          <a:lstStyle/>
          <a:p>
            <a:endParaRPr lang="es-PE"/>
          </a:p>
        </p:txBody>
      </p:sp>
      <p:sp>
        <p:nvSpPr>
          <p:cNvPr id="4" name="Text 2"/>
          <p:cNvSpPr txBox="1"/>
          <p:nvPr/>
        </p:nvSpPr>
        <p:spPr>
          <a:xfrm>
            <a:off x="886968" y="1783080"/>
            <a:ext cx="10405872" cy="1600200"/>
          </a:xfrm>
          <a:prstGeom prst="rect">
            <a:avLst/>
          </a:prstGeom>
          <a:noFill/>
          <a:ln/>
        </p:spPr>
        <p:txBody>
          <a:bodyPr wrap="square" lIns="0" tIns="0" rIns="0" bIns="0" rtlCol="0" anchor="t"/>
          <a:lstStyle/>
          <a:p>
            <a:pPr marL="0" indent="0" algn="just">
              <a:lnSpc>
                <a:spcPts val="2400"/>
              </a:lnSpc>
              <a:buNone/>
            </a:pPr>
            <a:r>
              <a:rPr lang="en-US" sz="1600" dirty="0">
                <a:solidFill>
                  <a:srgbClr val="002060"/>
                </a:solidFill>
                <a:latin typeface="Calibri" pitchFamily="34" charset="0"/>
                <a:ea typeface="Calibri" pitchFamily="34" charset="-122"/>
                <a:cs typeface="Calibri" pitchFamily="34" charset="-120"/>
              </a:rPr>
              <a:t>El análisis modela el flujo neto diario de depósitos y retiros del conjunto del sistema bancario frente a sus cuentas en moneda extranjera en el Banco Central, correspondiente a las operaciones de transferencia al exterior. De </a:t>
            </a:r>
            <a:r>
              <a:rPr lang="en-US" sz="1600" dirty="0" err="1">
                <a:solidFill>
                  <a:srgbClr val="002060"/>
                </a:solidFill>
                <a:latin typeface="Calibri" pitchFamily="34" charset="0"/>
                <a:ea typeface="Calibri" pitchFamily="34" charset="-122"/>
                <a:cs typeface="Calibri" pitchFamily="34" charset="-120"/>
              </a:rPr>
              <a:t>este</a:t>
            </a:r>
            <a:r>
              <a:rPr lang="en-US" sz="1600" dirty="0">
                <a:solidFill>
                  <a:srgbClr val="002060"/>
                </a:solidFill>
                <a:latin typeface="Calibri" pitchFamily="34" charset="0"/>
                <a:ea typeface="Calibri" pitchFamily="34" charset="-122"/>
                <a:cs typeface="Calibri" pitchFamily="34" charset="-120"/>
              </a:rPr>
              <a:t> modo, la variable de interés es la salida neta, definida como retiros menos depósitos, dado que los depósitos constituyen entradas que compensan dicha salida. El período de análisis comprende los años 2010 a 2026.</a:t>
            </a:r>
            <a:endParaRPr lang="en-US" sz="1600" dirty="0"/>
          </a:p>
        </p:txBody>
      </p:sp>
      <p:sp>
        <p:nvSpPr>
          <p:cNvPr id="5" name="Text 3"/>
          <p:cNvSpPr txBox="1"/>
          <p:nvPr/>
        </p:nvSpPr>
        <p:spPr>
          <a:xfrm>
            <a:off x="886968" y="3584448"/>
            <a:ext cx="10405872" cy="320040"/>
          </a:xfrm>
          <a:prstGeom prst="rect">
            <a:avLst/>
          </a:prstGeom>
          <a:noFill/>
          <a:ln/>
        </p:spPr>
        <p:txBody>
          <a:bodyPr wrap="square" lIns="0" tIns="0" rIns="0" bIns="0" rtlCol="0" anchor="t"/>
          <a:lstStyle/>
          <a:p>
            <a:pPr marL="0" indent="0" algn="just">
              <a:lnSpc>
                <a:spcPts val="2400"/>
              </a:lnSpc>
              <a:buNone/>
            </a:pPr>
            <a:r>
              <a:rPr lang="en-US" sz="1600" dirty="0">
                <a:solidFill>
                  <a:srgbClr val="002060"/>
                </a:solidFill>
                <a:latin typeface="Calibri" pitchFamily="34" charset="0"/>
                <a:ea typeface="Calibri" pitchFamily="34" charset="-122"/>
                <a:cs typeface="Calibri" pitchFamily="34" charset="-120"/>
              </a:rPr>
              <a:t>Sobre esta variable se examinan tres dimensiones:</a:t>
            </a:r>
            <a:endParaRPr lang="en-US" sz="1600" dirty="0"/>
          </a:p>
        </p:txBody>
      </p:sp>
      <p:sp>
        <p:nvSpPr>
          <p:cNvPr id="6" name="Shape 4"/>
          <p:cNvSpPr/>
          <p:nvPr/>
        </p:nvSpPr>
        <p:spPr>
          <a:xfrm>
            <a:off x="886968" y="4069080"/>
            <a:ext cx="3246120" cy="1417320"/>
          </a:xfrm>
          <a:prstGeom prst="rect">
            <a:avLst/>
          </a:prstGeom>
          <a:solidFill>
            <a:srgbClr val="F4F6F9"/>
          </a:solidFill>
          <a:ln w="9525">
            <a:solidFill>
              <a:srgbClr val="D8DEE8"/>
            </a:solidFill>
            <a:prstDash val="solid"/>
          </a:ln>
        </p:spPr>
        <p:txBody>
          <a:bodyPr/>
          <a:lstStyle/>
          <a:p>
            <a:endParaRPr lang="es-PE"/>
          </a:p>
        </p:txBody>
      </p:sp>
      <p:sp>
        <p:nvSpPr>
          <p:cNvPr id="7" name="Text 5"/>
          <p:cNvSpPr txBox="1"/>
          <p:nvPr/>
        </p:nvSpPr>
        <p:spPr>
          <a:xfrm>
            <a:off x="1143000" y="4251960"/>
            <a:ext cx="365760" cy="256032"/>
          </a:xfrm>
          <a:prstGeom prst="rect">
            <a:avLst/>
          </a:prstGeom>
          <a:noFill/>
          <a:ln/>
        </p:spPr>
        <p:txBody>
          <a:bodyPr wrap="square" lIns="0" tIns="0" rIns="0" bIns="0" rtlCol="0" anchor="ctr"/>
          <a:lstStyle/>
          <a:p>
            <a:pPr marL="0" indent="0">
              <a:buNone/>
            </a:pPr>
            <a:r>
              <a:rPr lang="en-US" sz="1400" b="1" dirty="0">
                <a:solidFill>
                  <a:srgbClr val="C8A24B"/>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4553712"/>
            <a:ext cx="2734056" cy="274320"/>
          </a:xfrm>
          <a:prstGeom prst="rect">
            <a:avLst/>
          </a:prstGeom>
          <a:noFill/>
          <a:ln/>
        </p:spPr>
        <p:txBody>
          <a:bodyPr wrap="square" lIns="0" tIns="0" rIns="0" bIns="0" rtlCol="0" anchor="ctr"/>
          <a:lstStyle/>
          <a:p>
            <a:pPr marL="0" indent="0">
              <a:buNone/>
            </a:pPr>
            <a:r>
              <a:rPr lang="en-US" sz="1500" b="1" dirty="0">
                <a:solidFill>
                  <a:srgbClr val="073269"/>
                </a:solidFill>
                <a:latin typeface="Calibri" pitchFamily="34" charset="0"/>
                <a:ea typeface="Calibri" pitchFamily="34" charset="-122"/>
                <a:cs typeface="Calibri" pitchFamily="34" charset="-120"/>
              </a:rPr>
              <a:t>Magnitud</a:t>
            </a:r>
            <a:endParaRPr lang="en-US" sz="1500" dirty="0"/>
          </a:p>
        </p:txBody>
      </p:sp>
      <p:sp>
        <p:nvSpPr>
          <p:cNvPr id="9" name="Text 7"/>
          <p:cNvSpPr txBox="1"/>
          <p:nvPr/>
        </p:nvSpPr>
        <p:spPr>
          <a:xfrm>
            <a:off x="1143000" y="4864608"/>
            <a:ext cx="2734056" cy="530352"/>
          </a:xfrm>
          <a:prstGeom prst="rect">
            <a:avLst/>
          </a:prstGeom>
          <a:noFill/>
          <a:ln/>
        </p:spPr>
        <p:txBody>
          <a:bodyPr wrap="square" lIns="0" tIns="0" rIns="0" bIns="0" rtlCol="0" anchor="t"/>
          <a:lstStyle/>
          <a:p>
            <a:pPr marL="0" indent="0">
              <a:lnSpc>
                <a:spcPts val="1700"/>
              </a:lnSpc>
              <a:buNone/>
            </a:pPr>
            <a:r>
              <a:rPr lang="en-US" sz="1300" dirty="0">
                <a:solidFill>
                  <a:srgbClr val="002060"/>
                </a:solidFill>
                <a:latin typeface="Calibri" pitchFamily="34" charset="0"/>
                <a:ea typeface="Calibri" pitchFamily="34" charset="-122"/>
                <a:cs typeface="Calibri" pitchFamily="34" charset="-120"/>
              </a:rPr>
              <a:t>Cuánto crece la salida neta al cierre de mes.</a:t>
            </a:r>
            <a:endParaRPr lang="en-US" sz="1300" dirty="0"/>
          </a:p>
        </p:txBody>
      </p:sp>
      <p:sp>
        <p:nvSpPr>
          <p:cNvPr id="10" name="Shape 8"/>
          <p:cNvSpPr/>
          <p:nvPr/>
        </p:nvSpPr>
        <p:spPr>
          <a:xfrm>
            <a:off x="4407408" y="4069080"/>
            <a:ext cx="3246120" cy="1417320"/>
          </a:xfrm>
          <a:prstGeom prst="rect">
            <a:avLst/>
          </a:prstGeom>
          <a:solidFill>
            <a:srgbClr val="F4F6F9"/>
          </a:solidFill>
          <a:ln w="9525">
            <a:solidFill>
              <a:srgbClr val="D8DEE8"/>
            </a:solidFill>
            <a:prstDash val="solid"/>
          </a:ln>
        </p:spPr>
        <p:txBody>
          <a:bodyPr/>
          <a:lstStyle/>
          <a:p>
            <a:endParaRPr lang="es-PE"/>
          </a:p>
        </p:txBody>
      </p:sp>
      <p:sp>
        <p:nvSpPr>
          <p:cNvPr id="11" name="Text 9"/>
          <p:cNvSpPr txBox="1"/>
          <p:nvPr/>
        </p:nvSpPr>
        <p:spPr>
          <a:xfrm>
            <a:off x="4663440" y="4251960"/>
            <a:ext cx="365760" cy="256032"/>
          </a:xfrm>
          <a:prstGeom prst="rect">
            <a:avLst/>
          </a:prstGeom>
          <a:noFill/>
          <a:ln/>
        </p:spPr>
        <p:txBody>
          <a:bodyPr wrap="square" lIns="0" tIns="0" rIns="0" bIns="0" rtlCol="0" anchor="ctr"/>
          <a:lstStyle/>
          <a:p>
            <a:pPr marL="0" indent="0">
              <a:buNone/>
            </a:pPr>
            <a:r>
              <a:rPr lang="en-US" sz="1400" b="1" dirty="0">
                <a:solidFill>
                  <a:srgbClr val="C8A24B"/>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4663440" y="4553712"/>
            <a:ext cx="2734056" cy="274320"/>
          </a:xfrm>
          <a:prstGeom prst="rect">
            <a:avLst/>
          </a:prstGeom>
          <a:noFill/>
          <a:ln/>
        </p:spPr>
        <p:txBody>
          <a:bodyPr wrap="square" lIns="0" tIns="0" rIns="0" bIns="0" rtlCol="0" anchor="ctr"/>
          <a:lstStyle/>
          <a:p>
            <a:pPr marL="0" indent="0">
              <a:buNone/>
            </a:pPr>
            <a:r>
              <a:rPr lang="en-US" sz="1500" b="1" dirty="0">
                <a:solidFill>
                  <a:srgbClr val="073269"/>
                </a:solidFill>
                <a:latin typeface="Calibri" pitchFamily="34" charset="0"/>
                <a:ea typeface="Calibri" pitchFamily="34" charset="-122"/>
                <a:cs typeface="Calibri" pitchFamily="34" charset="-120"/>
              </a:rPr>
              <a:t>Distribución</a:t>
            </a:r>
            <a:endParaRPr lang="en-US" sz="1500" dirty="0"/>
          </a:p>
        </p:txBody>
      </p:sp>
      <p:sp>
        <p:nvSpPr>
          <p:cNvPr id="13" name="Text 11"/>
          <p:cNvSpPr txBox="1"/>
          <p:nvPr/>
        </p:nvSpPr>
        <p:spPr>
          <a:xfrm>
            <a:off x="4663440" y="4864608"/>
            <a:ext cx="2734056" cy="530352"/>
          </a:xfrm>
          <a:prstGeom prst="rect">
            <a:avLst/>
          </a:prstGeom>
          <a:noFill/>
          <a:ln/>
        </p:spPr>
        <p:txBody>
          <a:bodyPr wrap="square" lIns="0" tIns="0" rIns="0" bIns="0" rtlCol="0" anchor="t"/>
          <a:lstStyle/>
          <a:p>
            <a:pPr marL="0" indent="0">
              <a:lnSpc>
                <a:spcPts val="1700"/>
              </a:lnSpc>
              <a:buNone/>
            </a:pPr>
            <a:r>
              <a:rPr lang="en-US" sz="1300" dirty="0">
                <a:solidFill>
                  <a:srgbClr val="002060"/>
                </a:solidFill>
                <a:latin typeface="Calibri" pitchFamily="34" charset="0"/>
                <a:ea typeface="Calibri" pitchFamily="34" charset="-122"/>
                <a:cs typeface="Calibri" pitchFamily="34" charset="-120"/>
              </a:rPr>
              <a:t>En qué momento del mes se concentra.</a:t>
            </a:r>
            <a:endParaRPr lang="en-US" sz="1300" dirty="0"/>
          </a:p>
        </p:txBody>
      </p:sp>
      <p:sp>
        <p:nvSpPr>
          <p:cNvPr id="14" name="Shape 12"/>
          <p:cNvSpPr/>
          <p:nvPr/>
        </p:nvSpPr>
        <p:spPr>
          <a:xfrm>
            <a:off x="7927848" y="4069080"/>
            <a:ext cx="3246120" cy="1417320"/>
          </a:xfrm>
          <a:prstGeom prst="rect">
            <a:avLst/>
          </a:prstGeom>
          <a:solidFill>
            <a:srgbClr val="F4F6F9"/>
          </a:solidFill>
          <a:ln w="9525">
            <a:solidFill>
              <a:srgbClr val="D8DEE8"/>
            </a:solidFill>
            <a:prstDash val="solid"/>
          </a:ln>
        </p:spPr>
        <p:txBody>
          <a:bodyPr/>
          <a:lstStyle/>
          <a:p>
            <a:endParaRPr lang="es-PE"/>
          </a:p>
        </p:txBody>
      </p:sp>
      <p:sp>
        <p:nvSpPr>
          <p:cNvPr id="15" name="Text 13"/>
          <p:cNvSpPr txBox="1"/>
          <p:nvPr/>
        </p:nvSpPr>
        <p:spPr>
          <a:xfrm>
            <a:off x="8183880" y="4251960"/>
            <a:ext cx="365760" cy="256032"/>
          </a:xfrm>
          <a:prstGeom prst="rect">
            <a:avLst/>
          </a:prstGeom>
          <a:noFill/>
          <a:ln/>
        </p:spPr>
        <p:txBody>
          <a:bodyPr wrap="square" lIns="0" tIns="0" rIns="0" bIns="0" rtlCol="0" anchor="ctr"/>
          <a:lstStyle/>
          <a:p>
            <a:pPr marL="0" indent="0">
              <a:buNone/>
            </a:pPr>
            <a:r>
              <a:rPr lang="en-US" sz="1400" b="1" dirty="0">
                <a:solidFill>
                  <a:srgbClr val="C8A24B"/>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8183880" y="4553712"/>
            <a:ext cx="2734056" cy="274320"/>
          </a:xfrm>
          <a:prstGeom prst="rect">
            <a:avLst/>
          </a:prstGeom>
          <a:noFill/>
          <a:ln/>
        </p:spPr>
        <p:txBody>
          <a:bodyPr wrap="square" lIns="0" tIns="0" rIns="0" bIns="0" rtlCol="0" anchor="ctr"/>
          <a:lstStyle/>
          <a:p>
            <a:pPr marL="0" indent="0">
              <a:buNone/>
            </a:pPr>
            <a:r>
              <a:rPr lang="en-US" sz="1500" b="1" dirty="0">
                <a:solidFill>
                  <a:srgbClr val="073269"/>
                </a:solidFill>
                <a:latin typeface="Calibri" pitchFamily="34" charset="0"/>
                <a:ea typeface="Calibri" pitchFamily="34" charset="-122"/>
                <a:cs typeface="Calibri" pitchFamily="34" charset="-120"/>
              </a:rPr>
              <a:t>Composición</a:t>
            </a:r>
            <a:endParaRPr lang="en-US" sz="1500" dirty="0"/>
          </a:p>
        </p:txBody>
      </p:sp>
      <p:sp>
        <p:nvSpPr>
          <p:cNvPr id="17" name="Text 15"/>
          <p:cNvSpPr txBox="1"/>
          <p:nvPr/>
        </p:nvSpPr>
        <p:spPr>
          <a:xfrm>
            <a:off x="8183880" y="4864608"/>
            <a:ext cx="2734056" cy="530352"/>
          </a:xfrm>
          <a:prstGeom prst="rect">
            <a:avLst/>
          </a:prstGeom>
          <a:noFill/>
          <a:ln/>
        </p:spPr>
        <p:txBody>
          <a:bodyPr wrap="square" lIns="0" tIns="0" rIns="0" bIns="0" rtlCol="0" anchor="t"/>
          <a:lstStyle/>
          <a:p>
            <a:pPr marL="0" indent="0">
              <a:lnSpc>
                <a:spcPts val="1700"/>
              </a:lnSpc>
              <a:buNone/>
            </a:pPr>
            <a:r>
              <a:rPr lang="en-US" sz="1300" dirty="0">
                <a:solidFill>
                  <a:srgbClr val="002060"/>
                </a:solidFill>
                <a:latin typeface="Calibri" pitchFamily="34" charset="0"/>
                <a:ea typeface="Calibri" pitchFamily="34" charset="-122"/>
                <a:cs typeface="Calibri" pitchFamily="34" charset="-120"/>
              </a:rPr>
              <a:t>Qué entidades la están impulsando.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Box 1"/>
          <p:cNvSpPr txBox="1"/>
          <p:nvPr/>
        </p:nvSpPr>
        <p:spPr>
          <a:xfrm>
            <a:off x="886968" y="521207"/>
            <a:ext cx="10405872" cy="640080"/>
          </a:xfrm>
          <a:prstGeom prst="rect">
            <a:avLst/>
          </a:prstGeom>
          <a:noFill/>
        </p:spPr>
        <p:txBody>
          <a:bodyPr wrap="square" lIns="0" rIns="0" tIns="0" bIns="0" anchor="t">
            <a:spAutoFit/>
          </a:bodyPr>
          <a:lstStyle/>
          <a:p>
            <a:pPr algn="l"/>
            <a:r>
              <a:rPr sz="2800" b="1" i="0">
                <a:solidFill>
                  <a:srgbClr val="073269"/>
                </a:solidFill>
                <a:latin typeface="Calibri"/>
              </a:rPr>
              <a:t>III. Hallazgos: magnitud de la salida al cierre</a:t>
            </a:r>
          </a:p>
        </p:txBody>
      </p:sp>
      <p:sp>
        <p:nvSpPr>
          <p:cNvPr id="3" name="Rectangle 2"/>
          <p:cNvSpPr/>
          <p:nvPr/>
        </p:nvSpPr>
        <p:spPr>
          <a:xfrm>
            <a:off x="886968" y="1307592"/>
            <a:ext cx="822960" cy="4572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1783080"/>
            <a:ext cx="10405872" cy="1280160"/>
          </a:xfrm>
          <a:prstGeom prst="rect">
            <a:avLst/>
          </a:prstGeom>
          <a:noFill/>
        </p:spPr>
        <p:txBody>
          <a:bodyPr wrap="square" lIns="0" rIns="0" tIns="0" bIns="0" anchor="t">
            <a:spAutoFit/>
          </a:bodyPr>
          <a:lstStyle/>
          <a:p>
            <a:pPr algn="just">
              <a:lnSpc>
                <a:spcPts val="2400"/>
              </a:lnSpc>
            </a:pPr>
            <a:r>
              <a:rPr sz="1600" b="0" i="0">
                <a:solidFill>
                  <a:srgbClr val="002060"/>
                </a:solidFill>
                <a:latin typeface="Calibri"/>
              </a:rPr>
              <a:t>Al inicio del período, los últimos cinco días hábiles de cada cierre trimestral se encontraban prácticamente equilibrados. En la actualidad se observa una salida neta sostenida y creciente: el índice pasa de 100 en 2010 a 1.151 en 2025. El cambio se registra alrededor de 2018–2019 y sugiere una modificación de régimen, no una simple intensificación del fenómeno previo.</a:t>
            </a:r>
          </a:p>
        </p:txBody>
      </p:sp>
      <p:graphicFrame>
        <p:nvGraphicFramePr>
          <p:cNvPr id="5" name="Chart 4"/>
          <p:cNvGraphicFramePr>
            <a:graphicFrameLocks noGrp="1"/>
          </p:cNvGraphicFramePr>
          <p:nvPr/>
        </p:nvGraphicFramePr>
        <p:xfrm>
          <a:off x="886968" y="3246120"/>
          <a:ext cx="10405872" cy="2606040"/>
        </p:xfrm>
        <a:graphic>
          <a:graphicData uri="http://schemas.openxmlformats.org/drawingml/2006/chart">
            <c:chart xmlns:c="http://schemas.openxmlformats.org/drawingml/2006/chart" r:id="rId3"/>
          </a:graphicData>
        </a:graphic>
      </p:graphicFrame>
      <p:sp>
        <p:nvSpPr>
          <p:cNvPr id="6" name="TextBox 5"/>
          <p:cNvSpPr txBox="1"/>
          <p:nvPr/>
        </p:nvSpPr>
        <p:spPr>
          <a:xfrm>
            <a:off x="886968" y="5989320"/>
            <a:ext cx="10405872" cy="274320"/>
          </a:xfrm>
          <a:prstGeom prst="rect">
            <a:avLst/>
          </a:prstGeom>
          <a:noFill/>
        </p:spPr>
        <p:txBody>
          <a:bodyPr wrap="square" lIns="0" rIns="0" tIns="0" bIns="0" anchor="t">
            <a:spAutoFit/>
          </a:bodyPr>
          <a:lstStyle/>
          <a:p>
            <a:pPr algn="l"/>
            <a:r>
              <a:rPr sz="1100" b="0" i="1">
                <a:solidFill>
                  <a:srgbClr val="767676"/>
                </a:solidFill>
                <a:latin typeface="Calibri"/>
              </a:rPr>
              <a:t>Salida neta del sistema en la ventana de cierre trimestral, índice 2010 = 100. Se excluye 2026 por tratarse de un año parcial.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86968" y="521208"/>
            <a:ext cx="10405872" cy="640080"/>
          </a:xfrm>
          <a:prstGeom prst="rect">
            <a:avLst/>
          </a:prstGeom>
          <a:noFill/>
          <a:ln/>
        </p:spPr>
        <p:txBody>
          <a:bodyPr wrap="square" lIns="0" tIns="0" rIns="0" bIns="0" rtlCol="0" anchor="ctr"/>
          <a:lstStyle/>
          <a:p>
            <a:pPr marL="0" indent="0">
              <a:buNone/>
            </a:pPr>
            <a:r>
              <a:rPr lang="en-US" sz="2800" b="1" dirty="0">
                <a:solidFill>
                  <a:srgbClr val="073269"/>
                </a:solidFill>
                <a:latin typeface="Calibri" pitchFamily="34" charset="0"/>
                <a:ea typeface="Calibri" pitchFamily="34" charset="-122"/>
                <a:cs typeface="Calibri" pitchFamily="34" charset="-120"/>
              </a:rPr>
              <a:t>IV. El requerimiento corresponde al flujo acumulado</a:t>
            </a:r>
            <a:endParaRPr lang="en-US" sz="2800" dirty="0"/>
          </a:p>
        </p:txBody>
      </p:sp>
      <p:sp>
        <p:nvSpPr>
          <p:cNvPr id="3" name="Shape 1"/>
          <p:cNvSpPr/>
          <p:nvPr/>
        </p:nvSpPr>
        <p:spPr>
          <a:xfrm>
            <a:off x="886968" y="1307592"/>
            <a:ext cx="822960" cy="45720"/>
          </a:xfrm>
          <a:prstGeom prst="rect">
            <a:avLst/>
          </a:prstGeom>
          <a:solidFill>
            <a:srgbClr val="C8A24B"/>
          </a:solidFill>
          <a:ln/>
        </p:spPr>
        <p:txBody>
          <a:bodyPr/>
          <a:lstStyle/>
          <a:p>
            <a:endParaRPr lang="es-PE"/>
          </a:p>
        </p:txBody>
      </p:sp>
      <p:sp>
        <p:nvSpPr>
          <p:cNvPr id="4" name="Text 2"/>
          <p:cNvSpPr txBox="1"/>
          <p:nvPr/>
        </p:nvSpPr>
        <p:spPr>
          <a:xfrm>
            <a:off x="886968" y="1783080"/>
            <a:ext cx="10405872" cy="1280160"/>
          </a:xfrm>
          <a:prstGeom prst="rect">
            <a:avLst/>
          </a:prstGeom>
          <a:noFill/>
          <a:ln/>
        </p:spPr>
        <p:txBody>
          <a:bodyPr wrap="square" lIns="0" tIns="0" rIns="0" bIns="0" rtlCol="0" anchor="t"/>
          <a:lstStyle/>
          <a:p>
            <a:pPr marL="0" indent="0" algn="just">
              <a:lnSpc>
                <a:spcPts val="2400"/>
              </a:lnSpc>
              <a:buNone/>
            </a:pPr>
            <a:r>
              <a:rPr lang="en-US" sz="1600" dirty="0">
                <a:solidFill>
                  <a:srgbClr val="002060"/>
                </a:solidFill>
                <a:latin typeface="Calibri" pitchFamily="34" charset="0"/>
                <a:ea typeface="Calibri" pitchFamily="34" charset="-122"/>
                <a:cs typeface="Calibri" pitchFamily="34" charset="-120"/>
              </a:rPr>
              <a:t>El requerimiento de liquidez no se define por el flujo de un día aislado, sino por la trayectoria acumulada del período que se cubre. En el ejemplo, con conocimiento pleno de los retiros, el flujo del día de vencimiento asciende a 300 millones, mientras que el déficit acumulado al cierre del tercer día alcanza 1.100 millones.</a:t>
            </a:r>
            <a:endParaRPr lang="en-US" sz="1600" dirty="0"/>
          </a:p>
        </p:txBody>
      </p:sp>
      <p:pic>
        <p:nvPicPr>
          <p:cNvPr id="5" name="Image 0" descr="preencoded.png"/>
          <p:cNvPicPr>
            <a:picLocks noChangeAspect="1"/>
          </p:cNvPicPr>
          <p:nvPr/>
        </p:nvPicPr>
        <p:blipFill>
          <a:blip r:embed="rId3"/>
          <a:stretch>
            <a:fillRect/>
          </a:stretch>
        </p:blipFill>
        <p:spPr>
          <a:xfrm>
            <a:off x="2167128" y="3246120"/>
            <a:ext cx="7863840" cy="2862072"/>
          </a:xfrm>
          <a:prstGeom prst="rect">
            <a:avLst/>
          </a:prstGeom>
        </p:spPr>
      </p:pic>
      <p:sp>
        <p:nvSpPr>
          <p:cNvPr id="6" name="Text 3"/>
          <p:cNvSpPr txBox="1"/>
          <p:nvPr/>
        </p:nvSpPr>
        <p:spPr>
          <a:xfrm>
            <a:off x="886968" y="6199632"/>
            <a:ext cx="10405872" cy="274320"/>
          </a:xfrm>
          <a:prstGeom prst="rect">
            <a:avLst/>
          </a:prstGeom>
          <a:noFill/>
          <a:ln/>
        </p:spPr>
        <p:txBody>
          <a:bodyPr wrap="square" lIns="0" tIns="0" rIns="0" bIns="0" rtlCol="0" anchor="t"/>
          <a:lstStyle/>
          <a:p>
            <a:pPr marL="0" indent="0">
              <a:buNone/>
            </a:pPr>
            <a:r>
              <a:rPr lang="en-US" sz="1100" i="1" dirty="0">
                <a:solidFill>
                  <a:srgbClr val="767676"/>
                </a:solidFill>
                <a:latin typeface="Calibri" pitchFamily="34" charset="0"/>
                <a:ea typeface="Calibri" pitchFamily="34" charset="-122"/>
                <a:cs typeface="Calibri" pitchFamily="34" charset="-120"/>
              </a:rPr>
              <a:t>Ejemplo ilustrativo con conocimiento pleno de los retiros. No corresponde a datos observados.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86968" y="521208"/>
            <a:ext cx="10405872" cy="640080"/>
          </a:xfrm>
          <a:prstGeom prst="rect">
            <a:avLst/>
          </a:prstGeom>
          <a:noFill/>
          <a:ln/>
        </p:spPr>
        <p:txBody>
          <a:bodyPr wrap="square" lIns="0" tIns="0" rIns="0" bIns="0" rtlCol="0" anchor="ctr"/>
          <a:lstStyle/>
          <a:p>
            <a:pPr marL="0" indent="0">
              <a:buNone/>
            </a:pPr>
            <a:r>
              <a:rPr lang="en-US" sz="2800" b="1" dirty="0">
                <a:solidFill>
                  <a:srgbClr val="073269"/>
                </a:solidFill>
                <a:latin typeface="Calibri" pitchFamily="34" charset="0"/>
                <a:ea typeface="Calibri" pitchFamily="34" charset="-122"/>
                <a:cs typeface="Calibri" pitchFamily="34" charset="-120"/>
              </a:rPr>
              <a:t>V. Máximo drawdown desde el origen</a:t>
            </a:r>
            <a:endParaRPr lang="en-US" sz="2800" dirty="0"/>
          </a:p>
        </p:txBody>
      </p:sp>
      <p:sp>
        <p:nvSpPr>
          <p:cNvPr id="3" name="Shape 1"/>
          <p:cNvSpPr/>
          <p:nvPr/>
        </p:nvSpPr>
        <p:spPr>
          <a:xfrm>
            <a:off x="886968" y="1307592"/>
            <a:ext cx="822960" cy="45720"/>
          </a:xfrm>
          <a:prstGeom prst="rect">
            <a:avLst/>
          </a:prstGeom>
          <a:solidFill>
            <a:srgbClr val="C8A24B"/>
          </a:solidFill>
          <a:ln/>
        </p:spPr>
        <p:txBody>
          <a:bodyPr/>
          <a:lstStyle/>
          <a:p>
            <a:endParaRPr lang="es-PE"/>
          </a:p>
        </p:txBody>
      </p:sp>
      <p:sp>
        <p:nvSpPr>
          <p:cNvPr id="4" name="Text 2"/>
          <p:cNvSpPr txBox="1"/>
          <p:nvPr/>
        </p:nvSpPr>
        <p:spPr>
          <a:xfrm>
            <a:off x="886968" y="1783080"/>
            <a:ext cx="10405872" cy="1600200"/>
          </a:xfrm>
          <a:prstGeom prst="rect">
            <a:avLst/>
          </a:prstGeom>
          <a:noFill/>
          <a:ln/>
        </p:spPr>
        <p:txBody>
          <a:bodyPr wrap="square" lIns="0" tIns="0" rIns="0" bIns="0" rtlCol="0" anchor="t"/>
          <a:lstStyle/>
          <a:p>
            <a:pPr marL="0" indent="0" algn="just">
              <a:lnSpc>
                <a:spcPts val="2400"/>
              </a:lnSpc>
              <a:buNone/>
            </a:pPr>
            <a:r>
              <a:rPr lang="en-US" sz="1600" dirty="0">
                <a:solidFill>
                  <a:srgbClr val="002060"/>
                </a:solidFill>
                <a:latin typeface="Calibri" pitchFamily="34" charset="0"/>
                <a:ea typeface="Calibri" pitchFamily="34" charset="-122"/>
                <a:cs typeface="Calibri" pitchFamily="34" charset="-120"/>
              </a:rPr>
              <a:t>Una posición de 1.100 millones con vencimiento al tercer día resultaría igualmente insuficiente: el segundo día el déficit acumulado ascendía ya a 800 millones. La escalera de vencimientos debe cubrir la trayectoria en cada fecha, no únicamente al vencimiento. En </a:t>
            </a:r>
            <a:r>
              <a:rPr lang="en-US" sz="1600" dirty="0" err="1">
                <a:solidFill>
                  <a:srgbClr val="002060"/>
                </a:solidFill>
                <a:latin typeface="Calibri" pitchFamily="34" charset="0"/>
                <a:ea typeface="Calibri" pitchFamily="34" charset="-122"/>
                <a:cs typeface="Calibri" pitchFamily="34" charset="-120"/>
              </a:rPr>
              <a:t>consecuencia</a:t>
            </a:r>
            <a:r>
              <a:rPr lang="en-US" sz="1600" dirty="0">
                <a:solidFill>
                  <a:srgbClr val="002060"/>
                </a:solidFill>
                <a:latin typeface="Calibri" pitchFamily="34" charset="0"/>
                <a:ea typeface="Calibri" pitchFamily="34" charset="-122"/>
                <a:cs typeface="Calibri" pitchFamily="34" charset="-120"/>
              </a:rPr>
              <a:t>, el indicador correspondiente es el máximo drawdown desde el origen, definido como la mayor caída del flujo acumulado respecto del punto de partida dentro del plazo considerado.</a:t>
            </a:r>
            <a:endParaRPr lang="en-US" sz="1600" dirty="0"/>
          </a:p>
        </p:txBody>
      </p:sp>
      <p:pic>
        <p:nvPicPr>
          <p:cNvPr id="5" name="Image 0" descr="preencoded.png"/>
          <p:cNvPicPr>
            <a:picLocks noChangeAspect="1"/>
          </p:cNvPicPr>
          <p:nvPr/>
        </p:nvPicPr>
        <p:blipFill>
          <a:blip r:embed="rId3"/>
          <a:stretch>
            <a:fillRect/>
          </a:stretch>
        </p:blipFill>
        <p:spPr>
          <a:xfrm>
            <a:off x="2176272" y="3566160"/>
            <a:ext cx="7845552" cy="2377440"/>
          </a:xfrm>
          <a:prstGeom prst="rect">
            <a:avLst/>
          </a:prstGeom>
        </p:spPr>
      </p:pic>
      <p:sp>
        <p:nvSpPr>
          <p:cNvPr id="6" name="Text 3"/>
          <p:cNvSpPr txBox="1"/>
          <p:nvPr/>
        </p:nvSpPr>
        <p:spPr>
          <a:xfrm>
            <a:off x="886968" y="6035040"/>
            <a:ext cx="10405872" cy="274320"/>
          </a:xfrm>
          <a:prstGeom prst="rect">
            <a:avLst/>
          </a:prstGeom>
          <a:noFill/>
          <a:ln/>
        </p:spPr>
        <p:txBody>
          <a:bodyPr wrap="square" lIns="0" tIns="0" rIns="0" bIns="0" rtlCol="0" anchor="t"/>
          <a:lstStyle/>
          <a:p>
            <a:pPr marL="0" indent="0">
              <a:buNone/>
            </a:pPr>
            <a:r>
              <a:rPr lang="en-US" sz="1100" i="1" dirty="0">
                <a:solidFill>
                  <a:srgbClr val="767676"/>
                </a:solidFill>
                <a:latin typeface="Calibri" pitchFamily="34" charset="0"/>
                <a:ea typeface="Calibri" pitchFamily="34" charset="-122"/>
                <a:cs typeface="Calibri" pitchFamily="34" charset="-120"/>
              </a:rPr>
              <a:t>Se mide desde el origen y no desde el máximo de la trayectoria: los depósitos recibidos durante el período financian retiros posteriores.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86968" y="521208"/>
            <a:ext cx="10405872" cy="640080"/>
          </a:xfrm>
          <a:prstGeom prst="rect">
            <a:avLst/>
          </a:prstGeom>
          <a:noFill/>
          <a:ln/>
        </p:spPr>
        <p:txBody>
          <a:bodyPr wrap="square" lIns="0" tIns="0" rIns="0" bIns="0" rtlCol="0" anchor="ctr"/>
          <a:lstStyle/>
          <a:p>
            <a:pPr marL="0" indent="0">
              <a:buNone/>
            </a:pPr>
            <a:r>
              <a:rPr lang="en-US" sz="2800" b="1" dirty="0">
                <a:solidFill>
                  <a:srgbClr val="073269"/>
                </a:solidFill>
                <a:latin typeface="Calibri" pitchFamily="34" charset="0"/>
                <a:ea typeface="Calibri" pitchFamily="34" charset="-122"/>
                <a:cs typeface="Calibri" pitchFamily="34" charset="-120"/>
              </a:rPr>
              <a:t>VI. Liquidez operativa requerida</a:t>
            </a:r>
            <a:endParaRPr lang="en-US" sz="2800" dirty="0"/>
          </a:p>
        </p:txBody>
      </p:sp>
      <p:sp>
        <p:nvSpPr>
          <p:cNvPr id="3" name="Shape 1"/>
          <p:cNvSpPr/>
          <p:nvPr/>
        </p:nvSpPr>
        <p:spPr>
          <a:xfrm>
            <a:off x="886968" y="1307592"/>
            <a:ext cx="822960" cy="45720"/>
          </a:xfrm>
          <a:prstGeom prst="rect">
            <a:avLst/>
          </a:prstGeom>
          <a:solidFill>
            <a:srgbClr val="C8A24B"/>
          </a:solidFill>
          <a:ln/>
        </p:spPr>
        <p:txBody>
          <a:bodyPr/>
          <a:lstStyle/>
          <a:p>
            <a:endParaRPr lang="es-PE"/>
          </a:p>
        </p:txBody>
      </p:sp>
      <p:sp>
        <p:nvSpPr>
          <p:cNvPr id="4" name="Text 2"/>
          <p:cNvSpPr txBox="1"/>
          <p:nvPr/>
        </p:nvSpPr>
        <p:spPr>
          <a:xfrm>
            <a:off x="886968" y="1783080"/>
            <a:ext cx="10405872" cy="1280160"/>
          </a:xfrm>
          <a:prstGeom prst="rect">
            <a:avLst/>
          </a:prstGeom>
          <a:noFill/>
          <a:ln/>
        </p:spPr>
        <p:txBody>
          <a:bodyPr wrap="square" lIns="0" tIns="0" rIns="0" bIns="0" rtlCol="0" anchor="t"/>
          <a:lstStyle/>
          <a:p>
            <a:pPr marL="0" indent="0" algn="just">
              <a:lnSpc>
                <a:spcPts val="2400"/>
              </a:lnSpc>
              <a:buNone/>
            </a:pPr>
            <a:r>
              <a:rPr lang="en-US" sz="1600" dirty="0">
                <a:solidFill>
                  <a:srgbClr val="002060"/>
                </a:solidFill>
                <a:latin typeface="Calibri" pitchFamily="34" charset="0"/>
                <a:ea typeface="Calibri" pitchFamily="34" charset="-122"/>
                <a:cs typeface="Calibri" pitchFamily="34" charset="-120"/>
              </a:rPr>
              <a:t>En ausencia de conocimiento pleno de los retiros, el entregable no puede ser una estimación puntual. La función de costo es asimétrica: quedarse corto obliga a liquidar una posición o a fondearse de un portafolio de mayor plazo, mientras que quedarse largo representa unos pocos puntos básicos de menor rendimiento. Por </a:t>
            </a:r>
            <a:r>
              <a:rPr lang="en-US" sz="1600" dirty="0" err="1">
                <a:solidFill>
                  <a:srgbClr val="002060"/>
                </a:solidFill>
                <a:latin typeface="Calibri" pitchFamily="34" charset="0"/>
                <a:ea typeface="Calibri" pitchFamily="34" charset="-122"/>
                <a:cs typeface="Calibri" pitchFamily="34" charset="-120"/>
              </a:rPr>
              <a:t>ende</a:t>
            </a:r>
            <a:r>
              <a:rPr lang="en-US" sz="1600" dirty="0">
                <a:solidFill>
                  <a:srgbClr val="002060"/>
                </a:solidFill>
                <a:latin typeface="Calibri" pitchFamily="34" charset="0"/>
                <a:ea typeface="Calibri" pitchFamily="34" charset="-122"/>
                <a:cs typeface="Calibri" pitchFamily="34" charset="-120"/>
              </a:rPr>
              <a:t>, el criterio prudente es dimensionar contra un percentil de la caída.</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3280063796"/>
              </p:ext>
            </p:extLst>
          </p:nvPr>
        </p:nvGraphicFramePr>
        <p:xfrm>
          <a:off x="886968" y="3291840"/>
          <a:ext cx="10405872" cy="2296160"/>
        </p:xfrm>
        <a:graphic>
          <a:graphicData uri="http://schemas.openxmlformats.org/drawingml/2006/table">
            <a:tbl>
              <a:tblPr/>
              <a:tblGrid>
                <a:gridCol w="2240280">
                  <a:extLst>
                    <a:ext uri="{9D8B030D-6E8A-4147-A177-3AD203B41FA5}">
                      <a16:colId xmlns:a16="http://schemas.microsoft.com/office/drawing/2014/main" val="20000"/>
                    </a:ext>
                  </a:extLst>
                </a:gridCol>
                <a:gridCol w="8165592">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073269"/>
                          </a:solidFill>
                          <a:latin typeface="Calibri" pitchFamily="34" charset="0"/>
                          <a:ea typeface="Calibri" pitchFamily="34" charset="-122"/>
                          <a:cs typeface="Calibri" pitchFamily="34" charset="-120"/>
                        </a:rPr>
                        <a:t>Entregable</a:t>
                      </a:r>
                      <a:endParaRPr lang="en-US" sz="1300" dirty="0">
                        <a:latin typeface="Calibri" charset="0"/>
                        <a:ea typeface="Calibri" charset="0"/>
                        <a:cs typeface="Calibri" charset="0"/>
                      </a:endParaRPr>
                    </a:p>
                  </a:txBody>
                  <a:tcPr marL="127000" marR="127000" marT="88900" marB="88900">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4F6F9"/>
                    </a:solidFill>
                  </a:tcPr>
                </a:tc>
                <a:tc>
                  <a:txBody>
                    <a:bodyPr/>
                    <a:lstStyle/>
                    <a:p>
                      <a:pPr marL="0" indent="0" algn="just">
                        <a:buNone/>
                      </a:pPr>
                      <a:r>
                        <a:rPr lang="en-US" sz="1300" dirty="0">
                          <a:solidFill>
                            <a:srgbClr val="002060"/>
                          </a:solidFill>
                          <a:latin typeface="Calibri" pitchFamily="34" charset="0"/>
                          <a:ea typeface="Calibri" pitchFamily="34" charset="-122"/>
                          <a:cs typeface="Calibri" pitchFamily="34" charset="-120"/>
                        </a:rPr>
                        <a:t>Liquidez operativa requerida a distintos plazos, hasta tres meses: el máximo flujo de salida acumulado a un percentil determinado. En la industria se le denomina maximum cumulative outflow (MCO).</a:t>
                      </a:r>
                      <a:endParaRPr lang="en-US" sz="1300" dirty="0">
                        <a:latin typeface="Calibri" charset="0"/>
                        <a:ea typeface="Calibri" charset="0"/>
                        <a:cs typeface="Calibri" charset="0"/>
                      </a:endParaRPr>
                    </a:p>
                  </a:txBody>
                  <a:tcPr marL="127000" marR="127000" marT="88900" marB="88900">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buNone/>
                      </a:pPr>
                      <a:r>
                        <a:rPr lang="en-US" sz="1300" b="1" dirty="0">
                          <a:solidFill>
                            <a:srgbClr val="073269"/>
                          </a:solidFill>
                          <a:latin typeface="Calibri" pitchFamily="34" charset="0"/>
                          <a:ea typeface="Calibri" pitchFamily="34" charset="-122"/>
                          <a:cs typeface="Calibri" pitchFamily="34" charset="-120"/>
                        </a:rPr>
                        <a:t>Variable objetivo</a:t>
                      </a:r>
                      <a:endParaRPr lang="en-US" sz="1300" dirty="0">
                        <a:latin typeface="Calibri" charset="0"/>
                        <a:ea typeface="Calibri" charset="0"/>
                        <a:cs typeface="Calibri" charset="0"/>
                      </a:endParaRPr>
                    </a:p>
                  </a:txBody>
                  <a:tcPr marL="127000" marR="127000" marT="88900" marB="88900">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4F6F9"/>
                    </a:solidFill>
                  </a:tcPr>
                </a:tc>
                <a:tc>
                  <a:txBody>
                    <a:bodyPr/>
                    <a:lstStyle/>
                    <a:p>
                      <a:pPr marL="0" indent="0" algn="just">
                        <a:buNone/>
                      </a:pPr>
                      <a:r>
                        <a:rPr lang="en-US" sz="1300" dirty="0">
                          <a:solidFill>
                            <a:srgbClr val="002060"/>
                          </a:solidFill>
                          <a:latin typeface="Calibri" pitchFamily="34" charset="0"/>
                          <a:ea typeface="Calibri" pitchFamily="34" charset="-122"/>
                          <a:cs typeface="Calibri" pitchFamily="34" charset="-120"/>
                        </a:rPr>
                        <a:t>El flujo neto diario del Sistema Financiero. El acumulado y su caída máxima se derivan posteriormente.</a:t>
                      </a:r>
                      <a:endParaRPr lang="en-US" sz="1300" dirty="0">
                        <a:latin typeface="Calibri" charset="0"/>
                        <a:ea typeface="Calibri" charset="0"/>
                        <a:cs typeface="Calibri" charset="0"/>
                      </a:endParaRPr>
                    </a:p>
                  </a:txBody>
                  <a:tcPr marL="127000" marR="127000" marT="88900" marB="88900">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300" b="1" dirty="0">
                          <a:solidFill>
                            <a:srgbClr val="073269"/>
                          </a:solidFill>
                          <a:latin typeface="Calibri" pitchFamily="34" charset="0"/>
                          <a:ea typeface="Calibri" pitchFamily="34" charset="-122"/>
                          <a:cs typeface="Calibri" pitchFamily="34" charset="-120"/>
                        </a:rPr>
                        <a:t>Metodología</a:t>
                      </a:r>
                      <a:endParaRPr lang="en-US" sz="1300" dirty="0">
                        <a:latin typeface="Calibri" charset="0"/>
                        <a:ea typeface="Calibri" charset="0"/>
                        <a:cs typeface="Calibri" charset="0"/>
                      </a:endParaRPr>
                    </a:p>
                  </a:txBody>
                  <a:tcPr marL="127000" marR="127000" marT="88900" marB="88900">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4F6F9"/>
                    </a:solidFill>
                  </a:tcPr>
                </a:tc>
                <a:tc>
                  <a:txBody>
                    <a:bodyPr/>
                    <a:lstStyle/>
                    <a:p>
                      <a:pPr marL="0" indent="0" algn="just">
                        <a:buNone/>
                      </a:pPr>
                      <a:r>
                        <a:rPr lang="en-US" sz="1300" dirty="0">
                          <a:solidFill>
                            <a:srgbClr val="002060"/>
                          </a:solidFill>
                          <a:latin typeface="Calibri" pitchFamily="34" charset="0"/>
                          <a:ea typeface="Calibri" pitchFamily="34" charset="-122"/>
                          <a:cs typeface="Calibri" pitchFamily="34" charset="-120"/>
                        </a:rPr>
                        <a:t>El flujo neto se modela mediante técnicas de </a:t>
                      </a:r>
                      <a:r>
                        <a:rPr lang="en-US" sz="1300" i="1" dirty="0">
                          <a:solidFill>
                            <a:srgbClr val="002060"/>
                          </a:solidFill>
                          <a:latin typeface="Calibri" pitchFamily="34" charset="0"/>
                          <a:ea typeface="Calibri" pitchFamily="34" charset="-122"/>
                          <a:cs typeface="Calibri" pitchFamily="34" charset="-120"/>
                        </a:rPr>
                        <a:t>machine learning</a:t>
                      </a:r>
                      <a:r>
                        <a:rPr lang="en-US" sz="1300" dirty="0">
                          <a:solidFill>
                            <a:srgbClr val="002060"/>
                          </a:solidFill>
                          <a:latin typeface="Calibri" pitchFamily="34" charset="0"/>
                          <a:ea typeface="Calibri" pitchFamily="34" charset="-122"/>
                          <a:cs typeface="Calibri" pitchFamily="34" charset="-120"/>
                        </a:rPr>
                        <a:t>. A </a:t>
                      </a:r>
                      <a:r>
                        <a:rPr lang="en-US" sz="1300" dirty="0" err="1">
                          <a:solidFill>
                            <a:srgbClr val="002060"/>
                          </a:solidFill>
                          <a:latin typeface="Calibri" pitchFamily="34" charset="0"/>
                          <a:ea typeface="Calibri" pitchFamily="34" charset="-122"/>
                          <a:cs typeface="Calibri" pitchFamily="34" charset="-120"/>
                        </a:rPr>
                        <a:t>partir</a:t>
                      </a:r>
                      <a:r>
                        <a:rPr lang="en-US" sz="1300" dirty="0">
                          <a:solidFill>
                            <a:srgbClr val="002060"/>
                          </a:solidFill>
                          <a:latin typeface="Calibri" pitchFamily="34" charset="0"/>
                          <a:ea typeface="Calibri" pitchFamily="34" charset="-122"/>
                          <a:cs typeface="Calibri" pitchFamily="34" charset="-120"/>
                        </a:rPr>
                        <a:t> </a:t>
                      </a:r>
                      <a:r>
                        <a:rPr lang="en-US" sz="1300" dirty="0" err="1">
                          <a:solidFill>
                            <a:srgbClr val="002060"/>
                          </a:solidFill>
                          <a:latin typeface="Calibri" pitchFamily="34" charset="0"/>
                          <a:ea typeface="Calibri" pitchFamily="34" charset="-122"/>
                          <a:cs typeface="Calibri" pitchFamily="34" charset="-120"/>
                        </a:rPr>
                        <a:t>dicho</a:t>
                      </a:r>
                      <a:r>
                        <a:rPr lang="en-US" sz="1300" dirty="0">
                          <a:solidFill>
                            <a:srgbClr val="002060"/>
                          </a:solidFill>
                          <a:latin typeface="Calibri" pitchFamily="34" charset="0"/>
                          <a:ea typeface="Calibri" pitchFamily="34" charset="-122"/>
                          <a:cs typeface="Calibri" pitchFamily="34" charset="-120"/>
                        </a:rPr>
                        <a:t> </a:t>
                      </a:r>
                      <a:r>
                        <a:rPr lang="en-US" sz="1300" dirty="0" err="1">
                          <a:solidFill>
                            <a:srgbClr val="002060"/>
                          </a:solidFill>
                          <a:latin typeface="Calibri" pitchFamily="34" charset="0"/>
                          <a:ea typeface="Calibri" pitchFamily="34" charset="-122"/>
                          <a:cs typeface="Calibri" pitchFamily="34" charset="-120"/>
                        </a:rPr>
                        <a:t>modelo</a:t>
                      </a:r>
                      <a:r>
                        <a:rPr lang="en-US" sz="1300" dirty="0">
                          <a:solidFill>
                            <a:srgbClr val="002060"/>
                          </a:solidFill>
                          <a:latin typeface="Calibri" pitchFamily="34" charset="0"/>
                          <a:ea typeface="Calibri" pitchFamily="34" charset="-122"/>
                          <a:cs typeface="Calibri" pitchFamily="34" charset="-120"/>
                        </a:rPr>
                        <a:t>, se simulan trayectorias que preservan la correlación serial; cada una se acumula, se obtiene su caída máxima desde el origen y el percentil se calcula sobre esa distribución.</a:t>
                      </a:r>
                      <a:endParaRPr lang="en-US" sz="1300" dirty="0">
                        <a:latin typeface="Calibri" charset="0"/>
                        <a:ea typeface="Calibri" charset="0"/>
                        <a:cs typeface="Calibri" charset="0"/>
                      </a:endParaRPr>
                    </a:p>
                  </a:txBody>
                  <a:tcPr marL="127000" marR="127000" marT="88900" marB="88900">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300" b="1" dirty="0">
                          <a:solidFill>
                            <a:srgbClr val="073269"/>
                          </a:solidFill>
                          <a:latin typeface="Calibri" pitchFamily="34" charset="0"/>
                          <a:ea typeface="Calibri" pitchFamily="34" charset="-122"/>
                          <a:cs typeface="Calibri" pitchFamily="34" charset="-120"/>
                        </a:rPr>
                        <a:t>Uso</a:t>
                      </a:r>
                      <a:endParaRPr lang="en-US" sz="1300" dirty="0">
                        <a:latin typeface="Calibri" charset="0"/>
                        <a:ea typeface="Calibri" charset="0"/>
                        <a:cs typeface="Calibri" charset="0"/>
                      </a:endParaRPr>
                    </a:p>
                  </a:txBody>
                  <a:tcPr marL="127000" marR="127000" marT="88900" marB="88900">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4F6F9"/>
                    </a:solidFill>
                  </a:tcPr>
                </a:tc>
                <a:tc>
                  <a:txBody>
                    <a:bodyPr/>
                    <a:lstStyle/>
                    <a:p>
                      <a:pPr marL="0" indent="0" algn="just">
                        <a:buNone/>
                      </a:pPr>
                      <a:r>
                        <a:rPr lang="en-US" sz="1300" dirty="0">
                          <a:solidFill>
                            <a:srgbClr val="002060"/>
                          </a:solidFill>
                          <a:latin typeface="Calibri" pitchFamily="34" charset="0"/>
                          <a:ea typeface="Calibri" pitchFamily="34" charset="-122"/>
                          <a:cs typeface="Calibri" pitchFamily="34" charset="-120"/>
                        </a:rPr>
                        <a:t>Herramienta de riesgo: permite gestionar de manera prudencial los recursos de los tramos líquidos frente a potenciales necesidades de liquidez en moneda extranjera del sistema financiero.</a:t>
                      </a:r>
                      <a:endParaRPr lang="en-US" sz="1300" dirty="0">
                        <a:latin typeface="Calibri" charset="0"/>
                        <a:ea typeface="Calibri" charset="0"/>
                        <a:cs typeface="Calibri" charset="0"/>
                      </a:endParaRPr>
                    </a:p>
                  </a:txBody>
                  <a:tcPr marL="127000" marR="127000" marT="88900" marB="88900">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86968" y="521208"/>
            <a:ext cx="10405872" cy="640080"/>
          </a:xfrm>
          <a:prstGeom prst="rect">
            <a:avLst/>
          </a:prstGeom>
          <a:noFill/>
          <a:ln/>
        </p:spPr>
        <p:txBody>
          <a:bodyPr wrap="square" lIns="0" tIns="0" rIns="0" bIns="0" rtlCol="0" anchor="ctr"/>
          <a:lstStyle/>
          <a:p>
            <a:pPr marL="0" indent="0">
              <a:buNone/>
            </a:pPr>
            <a:r>
              <a:rPr lang="en-US" sz="2800" b="1" dirty="0">
                <a:solidFill>
                  <a:srgbClr val="073269"/>
                </a:solidFill>
                <a:latin typeface="Calibri" pitchFamily="34" charset="0"/>
                <a:ea typeface="Calibri" pitchFamily="34" charset="-122"/>
                <a:cs typeface="Calibri" pitchFamily="34" charset="-120"/>
              </a:rPr>
              <a:t>VII. Estimación a tres meses</a:t>
            </a:r>
            <a:endParaRPr lang="en-US" sz="2800" dirty="0"/>
          </a:p>
        </p:txBody>
      </p:sp>
      <p:sp>
        <p:nvSpPr>
          <p:cNvPr id="3" name="Shape 1"/>
          <p:cNvSpPr/>
          <p:nvPr/>
        </p:nvSpPr>
        <p:spPr>
          <a:xfrm>
            <a:off x="886968" y="1307592"/>
            <a:ext cx="822960" cy="45720"/>
          </a:xfrm>
          <a:prstGeom prst="rect">
            <a:avLst/>
          </a:prstGeom>
          <a:solidFill>
            <a:srgbClr val="C8A24B"/>
          </a:solidFill>
          <a:ln/>
        </p:spPr>
        <p:txBody>
          <a:bodyPr/>
          <a:lstStyle/>
          <a:p>
            <a:endParaRPr lang="es-PE"/>
          </a:p>
        </p:txBody>
      </p:sp>
      <p:sp>
        <p:nvSpPr>
          <p:cNvPr id="4" name="Text 2"/>
          <p:cNvSpPr txBox="1"/>
          <p:nvPr/>
        </p:nvSpPr>
        <p:spPr>
          <a:xfrm>
            <a:off x="886968" y="1783080"/>
            <a:ext cx="10405872" cy="960120"/>
          </a:xfrm>
          <a:prstGeom prst="rect">
            <a:avLst/>
          </a:prstGeom>
          <a:noFill/>
          <a:ln/>
        </p:spPr>
        <p:txBody>
          <a:bodyPr wrap="square" lIns="0" tIns="0" rIns="0" bIns="0" rtlCol="0" anchor="t"/>
          <a:lstStyle/>
          <a:p>
            <a:pPr marL="0" indent="0" algn="just">
              <a:lnSpc>
                <a:spcPts val="2400"/>
              </a:lnSpc>
              <a:buNone/>
            </a:pPr>
            <a:r>
              <a:rPr lang="en-US" sz="1600" dirty="0">
                <a:solidFill>
                  <a:srgbClr val="002060"/>
                </a:solidFill>
                <a:latin typeface="Calibri" pitchFamily="34" charset="0"/>
                <a:ea typeface="Calibri" pitchFamily="34" charset="-122"/>
                <a:cs typeface="Calibri" pitchFamily="34" charset="-120"/>
              </a:rPr>
              <a:t>La proyección entrega, para cada plazo, la distribución del flujo acumulado y la liquidez operativa requerida al percentil seleccionado. Esta última resulta monótona por construcción: un plazo más extenso no puede exigir una cobertura menor que uno más corto.</a:t>
            </a:r>
            <a:endParaRPr lang="en-US" sz="1600" dirty="0"/>
          </a:p>
        </p:txBody>
      </p:sp>
      <p:pic>
        <p:nvPicPr>
          <p:cNvPr id="5" name="Image 0" descr="preencoded.png"/>
          <p:cNvPicPr>
            <a:picLocks noChangeAspect="1"/>
          </p:cNvPicPr>
          <p:nvPr/>
        </p:nvPicPr>
        <p:blipFill>
          <a:blip r:embed="rId3"/>
          <a:stretch>
            <a:fillRect/>
          </a:stretch>
        </p:blipFill>
        <p:spPr>
          <a:xfrm>
            <a:off x="2157984" y="2971800"/>
            <a:ext cx="7882128" cy="3200400"/>
          </a:xfrm>
          <a:prstGeom prst="rect">
            <a:avLst/>
          </a:prstGeom>
        </p:spPr>
      </p:pic>
      <p:sp>
        <p:nvSpPr>
          <p:cNvPr id="6" name="Text 3"/>
          <p:cNvSpPr txBox="1"/>
          <p:nvPr/>
        </p:nvSpPr>
        <p:spPr>
          <a:xfrm>
            <a:off x="886968" y="6263640"/>
            <a:ext cx="10405872" cy="274320"/>
          </a:xfrm>
          <a:prstGeom prst="rect">
            <a:avLst/>
          </a:prstGeom>
          <a:noFill/>
          <a:ln/>
        </p:spPr>
        <p:txBody>
          <a:bodyPr wrap="square" lIns="0" tIns="0" rIns="0" bIns="0" rtlCol="0" anchor="t"/>
          <a:lstStyle/>
          <a:p>
            <a:pPr marL="0" indent="0">
              <a:buNone/>
            </a:pPr>
            <a:r>
              <a:rPr lang="en-US" sz="1100" i="1" dirty="0">
                <a:solidFill>
                  <a:srgbClr val="767676"/>
                </a:solidFill>
                <a:latin typeface="Calibri" pitchFamily="34" charset="0"/>
                <a:ea typeface="Calibri" pitchFamily="34" charset="-122"/>
                <a:cs typeface="Calibri" pitchFamily="34" charset="-120"/>
              </a:rPr>
              <a:t>Representación del formato de salida. La serie es sintética y reproduce la forma documentada en los hallazgos.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86968" y="521208"/>
            <a:ext cx="10405872" cy="640080"/>
          </a:xfrm>
          <a:prstGeom prst="rect">
            <a:avLst/>
          </a:prstGeom>
          <a:noFill/>
          <a:ln/>
        </p:spPr>
        <p:txBody>
          <a:bodyPr wrap="square" lIns="0" tIns="0" rIns="0" bIns="0" rtlCol="0" anchor="ctr"/>
          <a:lstStyle/>
          <a:p>
            <a:pPr marL="0" indent="0">
              <a:buNone/>
            </a:pPr>
            <a:r>
              <a:rPr lang="en-US" sz="2800" b="1" dirty="0">
                <a:solidFill>
                  <a:srgbClr val="073269"/>
                </a:solidFill>
                <a:latin typeface="Calibri" pitchFamily="34" charset="0"/>
                <a:ea typeface="Calibri" pitchFamily="34" charset="-122"/>
                <a:cs typeface="Calibri" pitchFamily="34" charset="-120"/>
              </a:rPr>
              <a:t>VIII. Relevancia y siguiente paso</a:t>
            </a:r>
            <a:endParaRPr lang="en-US" sz="2800" dirty="0"/>
          </a:p>
        </p:txBody>
      </p:sp>
      <p:sp>
        <p:nvSpPr>
          <p:cNvPr id="3" name="Shape 1"/>
          <p:cNvSpPr/>
          <p:nvPr/>
        </p:nvSpPr>
        <p:spPr>
          <a:xfrm>
            <a:off x="886968" y="1307592"/>
            <a:ext cx="822960" cy="45720"/>
          </a:xfrm>
          <a:prstGeom prst="rect">
            <a:avLst/>
          </a:prstGeom>
          <a:solidFill>
            <a:srgbClr val="C8A24B"/>
          </a:solidFill>
          <a:ln/>
        </p:spPr>
        <p:txBody>
          <a:bodyPr/>
          <a:lstStyle/>
          <a:p>
            <a:endParaRPr lang="es-PE"/>
          </a:p>
        </p:txBody>
      </p:sp>
      <p:sp>
        <p:nvSpPr>
          <p:cNvPr id="4" name="Text 2"/>
          <p:cNvSpPr txBox="1"/>
          <p:nvPr/>
        </p:nvSpPr>
        <p:spPr>
          <a:xfrm>
            <a:off x="886968" y="1783080"/>
            <a:ext cx="10405872" cy="1600200"/>
          </a:xfrm>
          <a:prstGeom prst="rect">
            <a:avLst/>
          </a:prstGeom>
          <a:noFill/>
          <a:ln/>
        </p:spPr>
        <p:txBody>
          <a:bodyPr wrap="square" lIns="0" tIns="0" rIns="0" bIns="0" rtlCol="0" anchor="t"/>
          <a:lstStyle/>
          <a:p>
            <a:pPr marL="0" indent="0" algn="just">
              <a:lnSpc>
                <a:spcPts val="2400"/>
              </a:lnSpc>
              <a:buNone/>
            </a:pPr>
            <a:r>
              <a:rPr lang="en-US" sz="1600" dirty="0">
                <a:solidFill>
                  <a:srgbClr val="002060"/>
                </a:solidFill>
                <a:latin typeface="Calibri" pitchFamily="34" charset="0"/>
                <a:ea typeface="Calibri" pitchFamily="34" charset="-122"/>
                <a:cs typeface="Calibri" pitchFamily="34" charset="-120"/>
              </a:rPr>
              <a:t>El requerimiento de liquidez difiere según el día del mes desde el que se lo evalúe. Quien observa el horizonte desde el tercer día hábil no enfrenta el mismo requerimiento que quien lo observa desde el día 18, aun cubriendo el mismo número de días. Los indicadores actualmente disponibles son de naturaleza histórica y no recogen esa diferencia. La estimación propuesta es simulada y prospectiva, por lo que el requerimiento que entrega depende de la posición desde la cual se proyecta.</a:t>
            </a:r>
            <a:endParaRPr lang="en-US" sz="1600" dirty="0"/>
          </a:p>
        </p:txBody>
      </p:sp>
      <p:sp>
        <p:nvSpPr>
          <p:cNvPr id="5" name="Text 3"/>
          <p:cNvSpPr txBox="1"/>
          <p:nvPr/>
        </p:nvSpPr>
        <p:spPr>
          <a:xfrm>
            <a:off x="886968" y="3383280"/>
            <a:ext cx="10405872" cy="1280160"/>
          </a:xfrm>
          <a:prstGeom prst="rect">
            <a:avLst/>
          </a:prstGeom>
          <a:noFill/>
          <a:ln/>
        </p:spPr>
        <p:txBody>
          <a:bodyPr wrap="square" lIns="0" tIns="0" rIns="0" bIns="0" rtlCol="0" anchor="t"/>
          <a:lstStyle/>
          <a:p>
            <a:pPr marL="0" indent="0" algn="just">
              <a:lnSpc>
                <a:spcPts val="2400"/>
              </a:lnSpc>
              <a:buNone/>
            </a:pPr>
            <a:r>
              <a:rPr lang="en-US" sz="1600" dirty="0">
                <a:solidFill>
                  <a:srgbClr val="002060"/>
                </a:solidFill>
                <a:latin typeface="Calibri" pitchFamily="34" charset="0"/>
                <a:ea typeface="Calibri" pitchFamily="34" charset="-122"/>
                <a:cs typeface="Calibri" pitchFamily="34" charset="-120"/>
              </a:rPr>
              <a:t>A ello se agrega que durante el mes no solo se registran salidas: el sistema deposita al inicio del período y esos depósitos financian parte del retiro posterior. Reconocer la trayectoria completa libera requerimiento al inicio del mes y lo endurece en las proximidades del cierre; se trata de una corrección cuyo signo depende del calendario.</a:t>
            </a:r>
            <a:endParaRPr lang="en-US" sz="1600" dirty="0"/>
          </a:p>
        </p:txBody>
      </p:sp>
      <p:sp>
        <p:nvSpPr>
          <p:cNvPr id="6" name="Shape 4"/>
          <p:cNvSpPr/>
          <p:nvPr/>
        </p:nvSpPr>
        <p:spPr>
          <a:xfrm>
            <a:off x="886968" y="4614269"/>
            <a:ext cx="10405872" cy="1325880"/>
          </a:xfrm>
          <a:prstGeom prst="rect">
            <a:avLst/>
          </a:prstGeom>
          <a:solidFill>
            <a:srgbClr val="F4F6F9"/>
          </a:solidFill>
          <a:ln w="9525">
            <a:solidFill>
              <a:srgbClr val="D8DEE8"/>
            </a:solidFill>
            <a:prstDash val="solid"/>
          </a:ln>
        </p:spPr>
        <p:txBody>
          <a:bodyPr/>
          <a:lstStyle/>
          <a:p>
            <a:endParaRPr lang="es-PE"/>
          </a:p>
        </p:txBody>
      </p:sp>
      <p:sp>
        <p:nvSpPr>
          <p:cNvPr id="7" name="Text 5"/>
          <p:cNvSpPr txBox="1"/>
          <p:nvPr/>
        </p:nvSpPr>
        <p:spPr>
          <a:xfrm>
            <a:off x="1161288" y="4797149"/>
            <a:ext cx="2743200" cy="256032"/>
          </a:xfrm>
          <a:prstGeom prst="rect">
            <a:avLst/>
          </a:prstGeom>
          <a:noFill/>
          <a:ln/>
        </p:spPr>
        <p:txBody>
          <a:bodyPr wrap="square" lIns="0" tIns="0" rIns="0" bIns="0" rtlCol="0" anchor="ctr"/>
          <a:lstStyle/>
          <a:p>
            <a:pPr marL="0" indent="0">
              <a:buNone/>
            </a:pPr>
            <a:r>
              <a:rPr lang="en-US" sz="1300" b="1" dirty="0">
                <a:solidFill>
                  <a:srgbClr val="C8A24B"/>
                </a:solidFill>
                <a:latin typeface="Calibri" pitchFamily="34" charset="0"/>
                <a:ea typeface="Calibri" pitchFamily="34" charset="-122"/>
                <a:cs typeface="Calibri" pitchFamily="34" charset="-120"/>
              </a:rPr>
              <a:t>Siguiente paso</a:t>
            </a:r>
            <a:endParaRPr lang="en-US" sz="1300" dirty="0"/>
          </a:p>
        </p:txBody>
      </p:sp>
      <p:sp>
        <p:nvSpPr>
          <p:cNvPr id="8" name="Text 6"/>
          <p:cNvSpPr txBox="1"/>
          <p:nvPr/>
        </p:nvSpPr>
        <p:spPr>
          <a:xfrm>
            <a:off x="1161288" y="5098901"/>
            <a:ext cx="9857232" cy="822960"/>
          </a:xfrm>
          <a:prstGeom prst="rect">
            <a:avLst/>
          </a:prstGeom>
          <a:noFill/>
          <a:ln/>
        </p:spPr>
        <p:txBody>
          <a:bodyPr wrap="square" lIns="0" tIns="0" rIns="0" bIns="0" rtlCol="0" anchor="t"/>
          <a:lstStyle/>
          <a:p>
            <a:pPr marL="0" indent="0" algn="just">
              <a:lnSpc>
                <a:spcPts val="2000"/>
              </a:lnSpc>
              <a:buNone/>
            </a:pPr>
            <a:r>
              <a:rPr lang="en-US" sz="1400" dirty="0">
                <a:solidFill>
                  <a:srgbClr val="002060"/>
                </a:solidFill>
                <a:latin typeface="Calibri" pitchFamily="34" charset="0"/>
                <a:ea typeface="Calibri" pitchFamily="34" charset="-122"/>
                <a:cs typeface="Calibri" pitchFamily="34" charset="-120"/>
              </a:rPr>
              <a:t>Proponemos conformar un espacio de trabajo conjunto. Resulta de particular interés su lectura sobre qué factores podrían anticipar estos movimientos y qué insumos, de conocimiento o de datos, consideran más relevantes para el desarrollo de la propuesta.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6ACE3-4C60-13A0-F6CC-7E8701ED4A6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4A06A31-DD4D-8376-5AC8-02B5FC4FAD58}"/>
              </a:ext>
            </a:extLst>
          </p:cNvPr>
          <p:cNvSpPr txBox="1"/>
          <p:nvPr/>
        </p:nvSpPr>
        <p:spPr>
          <a:xfrm>
            <a:off x="1028268" y="2148840"/>
            <a:ext cx="9994392" cy="1280160"/>
          </a:xfrm>
          <a:prstGeom prst="rect">
            <a:avLst/>
          </a:prstGeom>
          <a:noFill/>
          <a:ln/>
        </p:spPr>
        <p:txBody>
          <a:bodyPr wrap="square" lIns="0" tIns="0" rIns="0" bIns="0" rtlCol="0" anchor="ctr"/>
          <a:lstStyle/>
          <a:p>
            <a:pPr marL="0" indent="0" algn="ctr">
              <a:lnSpc>
                <a:spcPts val="3800"/>
              </a:lnSpc>
              <a:buNone/>
            </a:pPr>
            <a:r>
              <a:rPr lang="en-US" sz="2800" b="1" dirty="0">
                <a:solidFill>
                  <a:srgbClr val="073269"/>
                </a:solidFill>
                <a:latin typeface="Calibri" pitchFamily="34" charset="0"/>
                <a:ea typeface="Calibri" pitchFamily="34" charset="-122"/>
                <a:cs typeface="Calibri" pitchFamily="34" charset="-120"/>
              </a:rPr>
              <a:t>SISTEMA DE ANÁLISIS Y ESTIMACIÓN</a:t>
            </a:r>
            <a:endParaRPr lang="en-US" sz="2800" dirty="0"/>
          </a:p>
          <a:p>
            <a:pPr marL="0" indent="0" algn="ctr">
              <a:lnSpc>
                <a:spcPts val="3800"/>
              </a:lnSpc>
              <a:buNone/>
            </a:pPr>
            <a:r>
              <a:rPr lang="en-US" sz="2800" b="1" dirty="0">
                <a:solidFill>
                  <a:srgbClr val="073269"/>
                </a:solidFill>
                <a:latin typeface="Calibri" pitchFamily="34" charset="0"/>
                <a:ea typeface="Calibri" pitchFamily="34" charset="-122"/>
                <a:cs typeface="Calibri" pitchFamily="34" charset="-120"/>
              </a:rPr>
              <a:t>DE REQUERIMIENTOS DE LIQUIDEZ</a:t>
            </a:r>
            <a:endParaRPr lang="en-US" sz="2800" dirty="0"/>
          </a:p>
        </p:txBody>
      </p:sp>
      <p:sp>
        <p:nvSpPr>
          <p:cNvPr id="3" name="Shape 1">
            <a:extLst>
              <a:ext uri="{FF2B5EF4-FFF2-40B4-BE49-F238E27FC236}">
                <a16:creationId xmlns:a16="http://schemas.microsoft.com/office/drawing/2014/main" id="{FE655D9C-E47B-1980-036C-301DDBBF2BC7}"/>
              </a:ext>
            </a:extLst>
          </p:cNvPr>
          <p:cNvSpPr/>
          <p:nvPr/>
        </p:nvSpPr>
        <p:spPr>
          <a:xfrm>
            <a:off x="5618556" y="3584448"/>
            <a:ext cx="822960" cy="45720"/>
          </a:xfrm>
          <a:prstGeom prst="rect">
            <a:avLst/>
          </a:prstGeom>
          <a:solidFill>
            <a:srgbClr val="C8A24B"/>
          </a:solidFill>
          <a:ln/>
        </p:spPr>
        <p:txBody>
          <a:bodyPr/>
          <a:lstStyle/>
          <a:p>
            <a:endParaRPr lang="es-PE"/>
          </a:p>
        </p:txBody>
      </p:sp>
      <p:sp>
        <p:nvSpPr>
          <p:cNvPr id="4" name="Text 2">
            <a:extLst>
              <a:ext uri="{FF2B5EF4-FFF2-40B4-BE49-F238E27FC236}">
                <a16:creationId xmlns:a16="http://schemas.microsoft.com/office/drawing/2014/main" id="{7F340F98-1DED-66C3-17AF-545BCABCEA8C}"/>
              </a:ext>
            </a:extLst>
          </p:cNvPr>
          <p:cNvSpPr txBox="1"/>
          <p:nvPr/>
        </p:nvSpPr>
        <p:spPr>
          <a:xfrm>
            <a:off x="1668348" y="3840480"/>
            <a:ext cx="8714232" cy="365760"/>
          </a:xfrm>
          <a:prstGeom prst="rect">
            <a:avLst/>
          </a:prstGeom>
          <a:noFill/>
          <a:ln/>
        </p:spPr>
        <p:txBody>
          <a:bodyPr wrap="square" lIns="0" tIns="0" rIns="0" bIns="0" rtlCol="0" anchor="ctr"/>
          <a:lstStyle/>
          <a:p>
            <a:pPr marL="0" indent="0" algn="ctr">
              <a:buNone/>
            </a:pPr>
            <a:r>
              <a:rPr lang="en-US" sz="1800" dirty="0">
                <a:solidFill>
                  <a:srgbClr val="002060"/>
                </a:solidFill>
                <a:latin typeface="Calibri" pitchFamily="34" charset="0"/>
                <a:ea typeface="Calibri" pitchFamily="34" charset="-122"/>
                <a:cs typeface="Calibri" pitchFamily="34" charset="-120"/>
              </a:rPr>
              <a:t>Dinámica de los depósitos y retiros en moneda extranjera</a:t>
            </a:r>
            <a:endParaRPr lang="en-US" sz="1800" dirty="0"/>
          </a:p>
        </p:txBody>
      </p:sp>
      <p:pic>
        <p:nvPicPr>
          <p:cNvPr id="7" name="Image 0" descr="kori_media/image2.jpeg">
            <a:extLst>
              <a:ext uri="{FF2B5EF4-FFF2-40B4-BE49-F238E27FC236}">
                <a16:creationId xmlns:a16="http://schemas.microsoft.com/office/drawing/2014/main" id="{4C3BACA2-001A-9891-8FDB-900EE318ECBB}"/>
              </a:ext>
            </a:extLst>
          </p:cNvPr>
          <p:cNvPicPr>
            <a:picLocks noChangeAspect="1"/>
          </p:cNvPicPr>
          <p:nvPr/>
        </p:nvPicPr>
        <p:blipFill>
          <a:blip r:embed="rId3"/>
          <a:stretch>
            <a:fillRect/>
          </a:stretch>
        </p:blipFill>
        <p:spPr>
          <a:xfrm>
            <a:off x="0" y="0"/>
            <a:ext cx="12188952" cy="1335024"/>
          </a:xfrm>
          <a:prstGeom prst="rect">
            <a:avLst/>
          </a:prstGeom>
        </p:spPr>
      </p:pic>
      <p:pic>
        <p:nvPicPr>
          <p:cNvPr id="9" name="Image 1" descr="kori_media/image3.png">
            <a:extLst>
              <a:ext uri="{FF2B5EF4-FFF2-40B4-BE49-F238E27FC236}">
                <a16:creationId xmlns:a16="http://schemas.microsoft.com/office/drawing/2014/main" id="{33FF89DF-19FF-6689-E6E8-4D93F8B5AD1F}"/>
              </a:ext>
            </a:extLst>
          </p:cNvPr>
          <p:cNvPicPr>
            <a:picLocks noChangeAspect="1"/>
          </p:cNvPicPr>
          <p:nvPr/>
        </p:nvPicPr>
        <p:blipFill>
          <a:blip r:embed="rId4"/>
          <a:stretch>
            <a:fillRect/>
          </a:stretch>
        </p:blipFill>
        <p:spPr>
          <a:xfrm>
            <a:off x="0" y="5559552"/>
            <a:ext cx="12188952" cy="1298448"/>
          </a:xfrm>
          <a:prstGeom prst="rect">
            <a:avLst/>
          </a:prstGeom>
        </p:spPr>
      </p:pic>
    </p:spTree>
    <p:extLst>
      <p:ext uri="{BB962C8B-B14F-4D97-AF65-F5344CB8AC3E}">
        <p14:creationId xmlns:p14="http://schemas.microsoft.com/office/powerpoint/2010/main" val="4243702655"/>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86968" y="521207"/>
            <a:ext cx="10405872" cy="640080"/>
          </a:xfrm>
          <a:prstGeom prst="rect">
            <a:avLst/>
          </a:prstGeom>
          <a:noFill/>
        </p:spPr>
        <p:txBody>
          <a:bodyPr wrap="square" lIns="0" rIns="0" tIns="0" bIns="0" anchor="t">
            <a:spAutoFit/>
          </a:bodyPr>
          <a:lstStyle/>
          <a:p>
            <a:pPr algn="l"/>
            <a:r>
              <a:rPr sz="2800" b="1" i="0">
                <a:solidFill>
                  <a:srgbClr val="073269"/>
                </a:solidFill>
                <a:latin typeface="Calibri"/>
              </a:rPr>
              <a:t>III. Hallazgos: distribución dentro del mes</a:t>
            </a:r>
          </a:p>
        </p:txBody>
      </p:sp>
      <p:sp>
        <p:nvSpPr>
          <p:cNvPr id="3" name="Rectangle 2"/>
          <p:cNvSpPr/>
          <p:nvPr/>
        </p:nvSpPr>
        <p:spPr>
          <a:xfrm>
            <a:off x="886968" y="1307592"/>
            <a:ext cx="822960" cy="4572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1783080"/>
            <a:ext cx="10405872" cy="1280160"/>
          </a:xfrm>
          <a:prstGeom prst="rect">
            <a:avLst/>
          </a:prstGeom>
          <a:noFill/>
        </p:spPr>
        <p:txBody>
          <a:bodyPr wrap="square" lIns="0" rIns="0" tIns="0" bIns="0" anchor="t">
            <a:spAutoFit/>
          </a:bodyPr>
          <a:lstStyle/>
          <a:p>
            <a:pPr algn="just">
              <a:lnSpc>
                <a:spcPts val="2400"/>
              </a:lnSpc>
            </a:pPr>
            <a:r>
              <a:rPr sz="1600" b="0" i="0">
                <a:solidFill>
                  <a:srgbClr val="002060"/>
                </a:solidFill>
                <a:latin typeface="Calibri"/>
              </a:rPr>
              <a:t>La salida no se distribuye de manera uniforme a lo largo del mes. Los depósitos se mantienen estables en torno al 4 % diario, mientras que los retiros se concentran hacia el cierre: el último día hábil concentra el 10,3 % de los retiros del mes, frente al 5,0 % de los depósitos.</a:t>
            </a:r>
          </a:p>
        </p:txBody>
      </p:sp>
      <p:graphicFrame>
        <p:nvGraphicFramePr>
          <p:cNvPr id="5" name="Chart 4"/>
          <p:cNvGraphicFramePr>
            <a:graphicFrameLocks noGrp="1"/>
          </p:cNvGraphicFramePr>
          <p:nvPr/>
        </p:nvGraphicFramePr>
        <p:xfrm>
          <a:off x="886968" y="3246120"/>
          <a:ext cx="10405872" cy="2606040"/>
        </p:xfrm>
        <a:graphic>
          <a:graphicData uri="http://schemas.openxmlformats.org/drawingml/2006/chart">
            <c:chart xmlns:c="http://schemas.openxmlformats.org/drawingml/2006/chart" r:id="rId2"/>
          </a:graphicData>
        </a:graphic>
      </p:graphicFrame>
      <p:sp>
        <p:nvSpPr>
          <p:cNvPr id="6" name="TextBox 5"/>
          <p:cNvSpPr txBox="1"/>
          <p:nvPr/>
        </p:nvSpPr>
        <p:spPr>
          <a:xfrm>
            <a:off x="886968" y="5989320"/>
            <a:ext cx="10405872" cy="274320"/>
          </a:xfrm>
          <a:prstGeom prst="rect">
            <a:avLst/>
          </a:prstGeom>
          <a:noFill/>
        </p:spPr>
        <p:txBody>
          <a:bodyPr wrap="square" lIns="0" rIns="0" tIns="0" bIns="0" anchor="t">
            <a:spAutoFit/>
          </a:bodyPr>
          <a:lstStyle/>
          <a:p>
            <a:pPr algn="l"/>
            <a:r>
              <a:rPr sz="1100" b="0" i="1">
                <a:solidFill>
                  <a:srgbClr val="767676"/>
                </a:solidFill>
                <a:latin typeface="Calibri"/>
              </a:rPr>
              <a:t>Porcentaje del total mensual de retiros y de depósitos que ocurre en cada día hábil, según días restantes hasta el cierre. Promedio de los meses de cierre trimestral, 2010–2026.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86968" y="521207"/>
            <a:ext cx="10405872" cy="640080"/>
          </a:xfrm>
          <a:prstGeom prst="rect">
            <a:avLst/>
          </a:prstGeom>
          <a:noFill/>
        </p:spPr>
        <p:txBody>
          <a:bodyPr wrap="square" lIns="0" rIns="0" tIns="0" bIns="0" anchor="t">
            <a:spAutoFit/>
          </a:bodyPr>
          <a:lstStyle/>
          <a:p>
            <a:pPr algn="l"/>
            <a:r>
              <a:rPr sz="2800" b="1" i="0">
                <a:solidFill>
                  <a:srgbClr val="073269"/>
                </a:solidFill>
                <a:latin typeface="Calibri"/>
              </a:rPr>
              <a:t>III. Hallazgos: composición por entidad</a:t>
            </a:r>
          </a:p>
        </p:txBody>
      </p:sp>
      <p:sp>
        <p:nvSpPr>
          <p:cNvPr id="3" name="Rectangle 2"/>
          <p:cNvSpPr/>
          <p:nvPr/>
        </p:nvSpPr>
        <p:spPr>
          <a:xfrm>
            <a:off x="886968" y="1307592"/>
            <a:ext cx="822960" cy="45720"/>
          </a:xfrm>
          <a:prstGeom prst="rect">
            <a:avLst/>
          </a:prstGeom>
          <a:solidFill>
            <a:srgbClr val="C8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1783080"/>
            <a:ext cx="10405872" cy="1280160"/>
          </a:xfrm>
          <a:prstGeom prst="rect">
            <a:avLst/>
          </a:prstGeom>
          <a:noFill/>
        </p:spPr>
        <p:txBody>
          <a:bodyPr wrap="square" lIns="0" rIns="0" tIns="0" bIns="0" anchor="t">
            <a:spAutoFit/>
          </a:bodyPr>
          <a:lstStyle/>
          <a:p>
            <a:pPr algn="just">
              <a:lnSpc>
                <a:spcPts val="2400"/>
              </a:lnSpc>
            </a:pPr>
            <a:r>
              <a:rPr sz="1600" b="0" i="0">
                <a:solidFill>
                  <a:srgbClr val="002060"/>
                </a:solidFill>
                <a:latin typeface="Calibri"/>
              </a:rPr>
              <a:t>Una sola entidad concentra la mayor parte de la salida al cierre, en una proporción superior a la que explicaría su tamaño relativo. Su participación en los retiros del sistema durante la ventana de cierre pasó de un promedio de 40 % entre 2010 y 2017 a 65 % entre 2018 y 2025, con los tres últimos años completos en torno al 80 %.</a:t>
            </a:r>
          </a:p>
        </p:txBody>
      </p:sp>
      <p:graphicFrame>
        <p:nvGraphicFramePr>
          <p:cNvPr id="5" name="Chart 4"/>
          <p:cNvGraphicFramePr>
            <a:graphicFrameLocks noGrp="1"/>
          </p:cNvGraphicFramePr>
          <p:nvPr/>
        </p:nvGraphicFramePr>
        <p:xfrm>
          <a:off x="886968" y="3246120"/>
          <a:ext cx="10405872" cy="2606040"/>
        </p:xfrm>
        <a:graphic>
          <a:graphicData uri="http://schemas.openxmlformats.org/drawingml/2006/chart">
            <c:chart xmlns:c="http://schemas.openxmlformats.org/drawingml/2006/chart" r:id="rId2"/>
          </a:graphicData>
        </a:graphic>
      </p:graphicFrame>
      <p:sp>
        <p:nvSpPr>
          <p:cNvPr id="6" name="TextBox 5"/>
          <p:cNvSpPr txBox="1"/>
          <p:nvPr/>
        </p:nvSpPr>
        <p:spPr>
          <a:xfrm>
            <a:off x="886968" y="5989320"/>
            <a:ext cx="10405872" cy="274320"/>
          </a:xfrm>
          <a:prstGeom prst="rect">
            <a:avLst/>
          </a:prstGeom>
          <a:noFill/>
        </p:spPr>
        <p:txBody>
          <a:bodyPr wrap="square" lIns="0" rIns="0" tIns="0" bIns="0" anchor="t">
            <a:spAutoFit/>
          </a:bodyPr>
          <a:lstStyle/>
          <a:p>
            <a:pPr algn="l"/>
            <a:r>
              <a:rPr sz="1100" b="0" i="1">
                <a:solidFill>
                  <a:srgbClr val="767676"/>
                </a:solidFill>
                <a:latin typeface="Calibri"/>
              </a:rPr>
              <a:t>Participación de la entidad de mayor peso en los retiros del sistema durante la ventana de cierre trimestral, promedio anual. Se excluye 2026 por tratarse de un año parcial.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1262</Words>
  <Application>Microsoft Office PowerPoint</Application>
  <PresentationFormat>Panorámica</PresentationFormat>
  <Paragraphs>80</Paragraphs>
  <Slides>10</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Análisis y Estimación de Requerimientos de Liquidez</dc:title>
  <dc:subject>PptxGenJS Presentation</dc:subject>
  <dc:creator>PptxGenJS</dc:creator>
  <cp:lastModifiedBy>Coasaca Rivera, Isait Wilbert</cp:lastModifiedBy>
  <cp:revision>2</cp:revision>
  <dcterms:created xsi:type="dcterms:W3CDTF">2026-08-26T06:05:02Z</dcterms:created>
  <dcterms:modified xsi:type="dcterms:W3CDTF">2026-08-26T06:22:16Z</dcterms:modified>
</cp:coreProperties>
</file>